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59" r:id="rId4"/>
    <p:sldId id="260" r:id="rId5"/>
    <p:sldId id="272" r:id="rId6"/>
    <p:sldId id="277" r:id="rId7"/>
    <p:sldId id="266" r:id="rId8"/>
    <p:sldId id="325" r:id="rId9"/>
    <p:sldId id="289" r:id="rId10"/>
    <p:sldId id="279" r:id="rId11"/>
    <p:sldId id="280" r:id="rId12"/>
    <p:sldId id="278" r:id="rId13"/>
    <p:sldId id="273" r:id="rId14"/>
    <p:sldId id="282" r:id="rId15"/>
    <p:sldId id="290" r:id="rId16"/>
    <p:sldId id="274" r:id="rId17"/>
    <p:sldId id="286" r:id="rId18"/>
    <p:sldId id="287" r:id="rId19"/>
    <p:sldId id="301" r:id="rId20"/>
    <p:sldId id="288" r:id="rId21"/>
    <p:sldId id="292" r:id="rId22"/>
    <p:sldId id="293" r:id="rId23"/>
    <p:sldId id="275" r:id="rId24"/>
    <p:sldId id="310" r:id="rId25"/>
    <p:sldId id="312" r:id="rId26"/>
    <p:sldId id="313" r:id="rId27"/>
    <p:sldId id="327" r:id="rId28"/>
    <p:sldId id="328" r:id="rId29"/>
    <p:sldId id="304" r:id="rId30"/>
    <p:sldId id="317" r:id="rId31"/>
    <p:sldId id="322" r:id="rId32"/>
    <p:sldId id="323" r:id="rId33"/>
    <p:sldId id="276" r:id="rId34"/>
    <p:sldId id="264" r:id="rId35"/>
    <p:sldId id="324" r:id="rId36"/>
    <p:sldId id="326" r:id="rId37"/>
    <p:sldId id="265"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57610E-1BD3-0511-A22B-E74ABA1D739D}" v="7" dt="2026-04-11T03:19:51.986"/>
    <p1510:client id="{CDA073BD-C644-E6DB-83B3-6211EE62A729}" v="97" dt="2026-04-11T03:33:28.7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710" autoAdjust="0"/>
  </p:normalViewPr>
  <p:slideViewPr>
    <p:cSldViewPr>
      <p:cViewPr varScale="1">
        <p:scale>
          <a:sx n="79" d="100"/>
          <a:sy n="79" d="100"/>
        </p:scale>
        <p:origin x="1570"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yush Sthapi" userId="S::piyushsthapitbca2079@prime.edu.np::246c99a6-541a-46a9-a405-f8ab8ceccbb8" providerId="AD" clId="Web-{C857610E-1BD3-0511-A22B-E74ABA1D739D}"/>
    <pc:docChg chg="modSld">
      <pc:chgData name="Piyush Sthapi" userId="S::piyushsthapitbca2079@prime.edu.np::246c99a6-541a-46a9-a405-f8ab8ceccbb8" providerId="AD" clId="Web-{C857610E-1BD3-0511-A22B-E74ABA1D739D}" dt="2026-04-11T03:19:51.986" v="6" actId="20577"/>
      <pc:docMkLst>
        <pc:docMk/>
      </pc:docMkLst>
      <pc:sldChg chg="modSp">
        <pc:chgData name="Piyush Sthapi" userId="S::piyushsthapitbca2079@prime.edu.np::246c99a6-541a-46a9-a405-f8ab8ceccbb8" providerId="AD" clId="Web-{C857610E-1BD3-0511-A22B-E74ABA1D739D}" dt="2026-04-11T03:19:51.986" v="6" actId="20577"/>
        <pc:sldMkLst>
          <pc:docMk/>
          <pc:sldMk cId="4201605872" sldId="256"/>
        </pc:sldMkLst>
        <pc:spChg chg="mod">
          <ac:chgData name="Piyush Sthapi" userId="S::piyushsthapitbca2079@prime.edu.np::246c99a6-541a-46a9-a405-f8ab8ceccbb8" providerId="AD" clId="Web-{C857610E-1BD3-0511-A22B-E74ABA1D739D}" dt="2026-04-11T03:19:51.986" v="6" actId="20577"/>
          <ac:spMkLst>
            <pc:docMk/>
            <pc:sldMk cId="4201605872" sldId="256"/>
            <ac:spMk id="2" creationId="{00000000-0000-0000-0000-000000000000}"/>
          </ac:spMkLst>
        </pc:spChg>
      </pc:sldChg>
    </pc:docChg>
  </pc:docChgLst>
  <pc:docChgLst>
    <pc:chgData name="Piyush Sthapi" userId="S::piyushsthapitbca2079@prime.edu.np::246c99a6-541a-46a9-a405-f8ab8ceccbb8" providerId="AD" clId="Web-{CDA073BD-C644-E6DB-83B3-6211EE62A729}"/>
    <pc:docChg chg="modSld">
      <pc:chgData name="Piyush Sthapi" userId="S::piyushsthapitbca2079@prime.edu.np::246c99a6-541a-46a9-a405-f8ab8ceccbb8" providerId="AD" clId="Web-{CDA073BD-C644-E6DB-83B3-6211EE62A729}" dt="2026-04-11T03:33:28.781" v="98" actId="20577"/>
      <pc:docMkLst>
        <pc:docMk/>
      </pc:docMkLst>
      <pc:sldChg chg="modSp">
        <pc:chgData name="Piyush Sthapi" userId="S::piyushsthapitbca2079@prime.edu.np::246c99a6-541a-46a9-a405-f8ab8ceccbb8" providerId="AD" clId="Web-{CDA073BD-C644-E6DB-83B3-6211EE62A729}" dt="2026-04-11T03:33:28.781" v="98" actId="20577"/>
        <pc:sldMkLst>
          <pc:docMk/>
          <pc:sldMk cId="2023396252" sldId="259"/>
        </pc:sldMkLst>
        <pc:spChg chg="mod">
          <ac:chgData name="Piyush Sthapi" userId="S::piyushsthapitbca2079@prime.edu.np::246c99a6-541a-46a9-a405-f8ab8ceccbb8" providerId="AD" clId="Web-{CDA073BD-C644-E6DB-83B3-6211EE62A729}" dt="2026-04-11T03:25:17.538" v="23" actId="1076"/>
          <ac:spMkLst>
            <pc:docMk/>
            <pc:sldMk cId="2023396252" sldId="259"/>
            <ac:spMk id="2" creationId="{00000000-0000-0000-0000-000000000000}"/>
          </ac:spMkLst>
        </pc:spChg>
        <pc:spChg chg="mod">
          <ac:chgData name="Piyush Sthapi" userId="S::piyushsthapitbca2079@prime.edu.np::246c99a6-541a-46a9-a405-f8ab8ceccbb8" providerId="AD" clId="Web-{CDA073BD-C644-E6DB-83B3-6211EE62A729}" dt="2026-04-11T03:33:28.781" v="98" actId="20577"/>
          <ac:spMkLst>
            <pc:docMk/>
            <pc:sldMk cId="2023396252" sldId="259"/>
            <ac:spMk id="3" creationId="{00000000-0000-0000-0000-000000000000}"/>
          </ac:spMkLst>
        </pc:spChg>
      </pc:sldChg>
      <pc:sldChg chg="modSp">
        <pc:chgData name="Piyush Sthapi" userId="S::piyushsthapitbca2079@prime.edu.np::246c99a6-541a-46a9-a405-f8ab8ceccbb8" providerId="AD" clId="Web-{CDA073BD-C644-E6DB-83B3-6211EE62A729}" dt="2026-04-11T03:32:26.843" v="97" actId="1076"/>
        <pc:sldMkLst>
          <pc:docMk/>
          <pc:sldMk cId="3385988054" sldId="260"/>
        </pc:sldMkLst>
        <pc:spChg chg="mod">
          <ac:chgData name="Piyush Sthapi" userId="S::piyushsthapitbca2079@prime.edu.np::246c99a6-541a-46a9-a405-f8ab8ceccbb8" providerId="AD" clId="Web-{CDA073BD-C644-E6DB-83B3-6211EE62A729}" dt="2026-04-11T03:32:26.843" v="97" actId="1076"/>
          <ac:spMkLst>
            <pc:docMk/>
            <pc:sldMk cId="3385988054" sldId="26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83077F-D8E2-4F0B-BE54-0C672218B48E}" type="datetimeFigureOut">
              <a:rPr lang="en-US" smtClean="0"/>
              <a:t>4/10/2026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02310E-6A06-4FCF-984F-635B8C07BF23}" type="slidenum">
              <a:rPr lang="en-US" smtClean="0"/>
              <a:t>‹#›</a:t>
            </a:fld>
            <a:endParaRPr lang="en-US"/>
          </a:p>
        </p:txBody>
      </p:sp>
    </p:spTree>
    <p:extLst>
      <p:ext uri="{BB962C8B-B14F-4D97-AF65-F5344CB8AC3E}">
        <p14:creationId xmlns:p14="http://schemas.microsoft.com/office/powerpoint/2010/main" val="1532415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02310E-6A06-4FCF-984F-635B8C07BF23}" type="slidenum">
              <a:rPr lang="en-US" smtClean="0"/>
              <a:t>6</a:t>
            </a:fld>
            <a:endParaRPr lang="en-US"/>
          </a:p>
        </p:txBody>
      </p:sp>
    </p:spTree>
    <p:extLst>
      <p:ext uri="{BB962C8B-B14F-4D97-AF65-F5344CB8AC3E}">
        <p14:creationId xmlns:p14="http://schemas.microsoft.com/office/powerpoint/2010/main" val="1898553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2E1E3B-0C09-4D14-A9A5-CF9E1576D670}" type="datetime1">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CAAF5-03BA-4168-AC93-5456AEECE647}" type="slidenum">
              <a:rPr lang="en-US" smtClean="0"/>
              <a:t>‹#›</a:t>
            </a:fld>
            <a:endParaRPr lang="en-US"/>
          </a:p>
        </p:txBody>
      </p:sp>
    </p:spTree>
    <p:extLst>
      <p:ext uri="{BB962C8B-B14F-4D97-AF65-F5344CB8AC3E}">
        <p14:creationId xmlns:p14="http://schemas.microsoft.com/office/powerpoint/2010/main" val="614352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9B465F-23C4-4EC5-9EB5-46CCBD49BA04}" type="datetime1">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CAAF5-03BA-4168-AC93-5456AEECE647}" type="slidenum">
              <a:rPr lang="en-US" smtClean="0"/>
              <a:t>‹#›</a:t>
            </a:fld>
            <a:endParaRPr lang="en-US"/>
          </a:p>
        </p:txBody>
      </p:sp>
    </p:spTree>
    <p:extLst>
      <p:ext uri="{BB962C8B-B14F-4D97-AF65-F5344CB8AC3E}">
        <p14:creationId xmlns:p14="http://schemas.microsoft.com/office/powerpoint/2010/main" val="4089190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73AD44-3A2C-451B-A567-5A7C42ECE8F6}" type="datetime1">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CAAF5-03BA-4168-AC93-5456AEECE647}" type="slidenum">
              <a:rPr lang="en-US" smtClean="0"/>
              <a:t>‹#›</a:t>
            </a:fld>
            <a:endParaRPr lang="en-US"/>
          </a:p>
        </p:txBody>
      </p:sp>
    </p:spTree>
    <p:extLst>
      <p:ext uri="{BB962C8B-B14F-4D97-AF65-F5344CB8AC3E}">
        <p14:creationId xmlns:p14="http://schemas.microsoft.com/office/powerpoint/2010/main" val="825780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3C5F699-4506-406F-B347-7391B0206D3E}" type="datetime1">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BCAAF5-03BA-4168-AC93-5456AEECE647}" type="slidenum">
              <a:rPr lang="en-US" smtClean="0"/>
              <a:t>‹#›</a:t>
            </a:fld>
            <a:endParaRPr lang="en-US"/>
          </a:p>
        </p:txBody>
      </p:sp>
    </p:spTree>
    <p:extLst>
      <p:ext uri="{BB962C8B-B14F-4D97-AF65-F5344CB8AC3E}">
        <p14:creationId xmlns:p14="http://schemas.microsoft.com/office/powerpoint/2010/main" val="2880868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579D21A-87B9-4F57-B532-D82E984CCE56}" type="datetime1">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BCAAF5-03BA-4168-AC93-5456AEECE647}" type="slidenum">
              <a:rPr lang="en-US" smtClean="0"/>
              <a:t>‹#›</a:t>
            </a:fld>
            <a:endParaRPr lang="en-US"/>
          </a:p>
        </p:txBody>
      </p:sp>
    </p:spTree>
    <p:extLst>
      <p:ext uri="{BB962C8B-B14F-4D97-AF65-F5344CB8AC3E}">
        <p14:creationId xmlns:p14="http://schemas.microsoft.com/office/powerpoint/2010/main" val="2361785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0BA193-6A28-4B37-BBA4-FCFBD569F86F}" type="datetime1">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BCAAF5-03BA-4168-AC93-5456AEECE647}" type="slidenum">
              <a:rPr lang="en-US" smtClean="0"/>
              <a:t>‹#›</a:t>
            </a:fld>
            <a:endParaRPr lang="en-US"/>
          </a:p>
        </p:txBody>
      </p:sp>
    </p:spTree>
    <p:extLst>
      <p:ext uri="{BB962C8B-B14F-4D97-AF65-F5344CB8AC3E}">
        <p14:creationId xmlns:p14="http://schemas.microsoft.com/office/powerpoint/2010/main" val="1055228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496CF2-24DB-4E2C-B3A9-51CAC49F85BD}" type="datetime1">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BCAAF5-03BA-4168-AC93-5456AEECE647}" type="slidenum">
              <a:rPr lang="en-US" smtClean="0"/>
              <a:t>‹#›</a:t>
            </a:fld>
            <a:endParaRPr lang="en-US"/>
          </a:p>
        </p:txBody>
      </p:sp>
    </p:spTree>
    <p:extLst>
      <p:ext uri="{BB962C8B-B14F-4D97-AF65-F5344CB8AC3E}">
        <p14:creationId xmlns:p14="http://schemas.microsoft.com/office/powerpoint/2010/main" val="2223935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5D9B00-4D24-4EC2-ADEA-063DFAC2EAC5}" type="datetime1">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BCAAF5-03BA-4168-AC93-5456AEECE647}" type="slidenum">
              <a:rPr lang="en-US" smtClean="0"/>
              <a:t>‹#›</a:t>
            </a:fld>
            <a:endParaRPr lang="en-US"/>
          </a:p>
        </p:txBody>
      </p:sp>
    </p:spTree>
    <p:extLst>
      <p:ext uri="{BB962C8B-B14F-4D97-AF65-F5344CB8AC3E}">
        <p14:creationId xmlns:p14="http://schemas.microsoft.com/office/powerpoint/2010/main" val="896675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A332F3-ED5B-4961-84FD-313BE9627F9D}" type="datetime1">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BCAAF5-03BA-4168-AC93-5456AEECE647}" type="slidenum">
              <a:rPr lang="en-US" smtClean="0"/>
              <a:t>‹#›</a:t>
            </a:fld>
            <a:endParaRPr lang="en-US"/>
          </a:p>
        </p:txBody>
      </p:sp>
    </p:spTree>
    <p:extLst>
      <p:ext uri="{BB962C8B-B14F-4D97-AF65-F5344CB8AC3E}">
        <p14:creationId xmlns:p14="http://schemas.microsoft.com/office/powerpoint/2010/main" val="912208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8A0915-23E1-4BCD-A1CB-08B3DC145E31}" type="datetime1">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CAAF5-03BA-4168-AC93-5456AEECE647}" type="slidenum">
              <a:rPr lang="en-US" smtClean="0"/>
              <a:t>‹#›</a:t>
            </a:fld>
            <a:endParaRPr lang="en-US"/>
          </a:p>
        </p:txBody>
      </p:sp>
    </p:spTree>
    <p:extLst>
      <p:ext uri="{BB962C8B-B14F-4D97-AF65-F5344CB8AC3E}">
        <p14:creationId xmlns:p14="http://schemas.microsoft.com/office/powerpoint/2010/main" val="3236113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098682-2B55-4D23-8A63-FD4AC2CC4E2C}" type="datetime1">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CAAF5-03BA-4168-AC93-5456AEECE647}" type="slidenum">
              <a:rPr lang="en-US" smtClean="0"/>
              <a:t>‹#›</a:t>
            </a:fld>
            <a:endParaRPr lang="en-US"/>
          </a:p>
        </p:txBody>
      </p:sp>
    </p:spTree>
    <p:extLst>
      <p:ext uri="{BB962C8B-B14F-4D97-AF65-F5344CB8AC3E}">
        <p14:creationId xmlns:p14="http://schemas.microsoft.com/office/powerpoint/2010/main" val="4171680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2B0249-4178-4409-B610-0389154E4DAD}" type="datetime1">
              <a:rPr lang="en-US" smtClean="0"/>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BCAAF5-03BA-4168-AC93-5456AEECE647}" type="slidenum">
              <a:rPr lang="en-US" smtClean="0"/>
              <a:t>‹#›</a:t>
            </a:fld>
            <a:endParaRPr lang="en-US"/>
          </a:p>
        </p:txBody>
      </p:sp>
    </p:spTree>
    <p:extLst>
      <p:ext uri="{BB962C8B-B14F-4D97-AF65-F5344CB8AC3E}">
        <p14:creationId xmlns:p14="http://schemas.microsoft.com/office/powerpoint/2010/main" val="1395307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0"/>
            <a:ext cx="7772400" cy="5943599"/>
          </a:xfrm>
        </p:spPr>
        <p:txBody>
          <a:bodyPr>
            <a:noAutofit/>
          </a:bodyPr>
          <a:lstStyle/>
          <a:p>
            <a:br>
              <a:rPr lang="en-US" sz="1800" b="1" dirty="0"/>
            </a:br>
            <a:br>
              <a:rPr lang="en-US" sz="1800" b="1" dirty="0"/>
            </a:br>
            <a:br>
              <a:rPr lang="en-US" sz="1800" b="1" dirty="0"/>
            </a:b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1800" b="1" dirty="0">
                <a:latin typeface="Times New Roman"/>
                <a:cs typeface="Times New Roman"/>
              </a:rPr>
              <a:t>A Project  Presentation</a:t>
            </a:r>
            <a:br>
              <a:rPr lang="en-US" sz="1800" dirty="0">
                <a:latin typeface="Times New Roman" panose="02020603050405020304" pitchFamily="18" charset="0"/>
                <a:cs typeface="Times New Roman" panose="02020603050405020304" pitchFamily="18" charset="0"/>
              </a:rPr>
            </a:br>
            <a:r>
              <a:rPr lang="en-US" sz="1800" b="1" dirty="0">
                <a:latin typeface="Times New Roman"/>
                <a:cs typeface="Times New Roman"/>
              </a:rPr>
              <a:t>On</a:t>
            </a:r>
            <a:br>
              <a:rPr lang="en-US" sz="1800" dirty="0">
                <a:latin typeface="Times New Roman" panose="02020603050405020304" pitchFamily="18" charset="0"/>
                <a:cs typeface="Times New Roman" panose="02020603050405020304" pitchFamily="18" charset="0"/>
              </a:rPr>
            </a:br>
            <a:r>
              <a:rPr lang="en-US" sz="1800" b="1" dirty="0">
                <a:latin typeface="Times New Roman"/>
                <a:cs typeface="Times New Roman"/>
              </a:rPr>
              <a:t>Diabetes Prediction System with K-Nearest Neighbors (KNN) Algorithm</a:t>
            </a:r>
            <a:br>
              <a:rPr lang="en-US" sz="1800" b="1"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a:cs typeface="Times New Roman"/>
              </a:rPr>
              <a:t>Submitted By</a:t>
            </a:r>
            <a:br>
              <a:rPr lang="en-US" sz="1800" dirty="0">
                <a:latin typeface="Times New Roman" panose="02020603050405020304" pitchFamily="18" charset="0"/>
                <a:cs typeface="Times New Roman" panose="02020603050405020304" pitchFamily="18" charset="0"/>
              </a:rPr>
            </a:br>
            <a:r>
              <a:rPr lang="en-US" sz="1800" dirty="0">
                <a:latin typeface="Times New Roman"/>
                <a:cs typeface="Times New Roman"/>
              </a:rPr>
              <a:t>Piyush </a:t>
            </a:r>
            <a:r>
              <a:rPr lang="en-US" sz="1800" dirty="0" err="1">
                <a:latin typeface="Times New Roman"/>
                <a:cs typeface="Times New Roman"/>
              </a:rPr>
              <a:t>Sthapit</a:t>
            </a:r>
            <a:r>
              <a:rPr lang="en-US" sz="1800" dirty="0">
                <a:latin typeface="Times New Roman"/>
                <a:cs typeface="Times New Roman"/>
              </a:rPr>
              <a:t> (41002140)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a:cs typeface="Times New Roman"/>
              </a:rPr>
              <a:t>A Final Project  Presentation Submitted in partial fulfillment of the requirement of </a:t>
            </a:r>
            <a:r>
              <a:rPr lang="en-US" sz="1800" b="1" dirty="0">
                <a:latin typeface="Times New Roman"/>
                <a:cs typeface="Times New Roman"/>
              </a:rPr>
              <a:t>Bachelor </a:t>
            </a:r>
            <a:r>
              <a:rPr lang="en-US" sz="1800" b="1" dirty="0">
                <a:latin typeface="Times New Roman"/>
                <a:ea typeface="Calibri"/>
                <a:cs typeface="Times New Roman"/>
              </a:rPr>
              <a:t>in Computer Applications(BCA) 6</a:t>
            </a:r>
            <a:r>
              <a:rPr lang="en-US" sz="1800" b="1" baseline="30000" dirty="0">
                <a:latin typeface="Times New Roman"/>
                <a:ea typeface="Calibri"/>
                <a:cs typeface="Times New Roman"/>
              </a:rPr>
              <a:t>th</a:t>
            </a:r>
            <a:r>
              <a:rPr lang="en-US" sz="1800" b="1" dirty="0">
                <a:latin typeface="Times New Roman"/>
                <a:ea typeface="Calibri"/>
                <a:cs typeface="Times New Roman"/>
              </a:rPr>
              <a:t> semester</a:t>
            </a:r>
            <a:br>
              <a:rPr lang="en-US" sz="1600" dirty="0">
                <a:latin typeface="Times New Roman" panose="02020603050405020304" pitchFamily="18" charset="0"/>
                <a:ea typeface="Calibri" panose="020F0502020204030204" pitchFamily="34" charset="0"/>
                <a:cs typeface="Times New Roman" panose="02020603050405020304" pitchFamily="18" charset="0"/>
              </a:rPr>
            </a:br>
            <a:r>
              <a:rPr lang="en-US" sz="1800" dirty="0">
                <a:latin typeface="Times New Roman"/>
                <a:cs typeface="Times New Roman"/>
              </a:rPr>
              <a:t>of Tribhuvan University, Nepal</a:t>
            </a:r>
            <a:br>
              <a:rPr lang="en-US" sz="1800" dirty="0">
                <a:latin typeface="Times New Roman" panose="02020603050405020304" pitchFamily="18" charset="0"/>
                <a:cs typeface="Times New Roman" panose="02020603050405020304" pitchFamily="18" charset="0"/>
              </a:rPr>
            </a:br>
            <a:r>
              <a:rPr lang="en-US" sz="1800" dirty="0">
                <a:latin typeface="Times New Roman"/>
                <a:cs typeface="Times New Roman"/>
              </a:rPr>
              <a:t>      </a:t>
            </a:r>
            <a:r>
              <a:rPr lang="en-US" sz="1800">
                <a:latin typeface="Times New Roman"/>
                <a:cs typeface="Times New Roman"/>
              </a:rPr>
              <a:t> </a:t>
            </a:r>
            <a:r>
              <a:rPr lang="en-US" sz="1800" dirty="0">
                <a:latin typeface="Times New Roman"/>
                <a:cs typeface="Times New Roman"/>
              </a:rPr>
              <a:t>April, 2026 A.D.                                 </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3962400" y="762000"/>
            <a:ext cx="1371600" cy="1371600"/>
          </a:xfrm>
          <a:prstGeom prst="rect">
            <a:avLst/>
          </a:prstGeom>
        </p:spPr>
      </p:pic>
      <p:sp>
        <p:nvSpPr>
          <p:cNvPr id="3" name="Slide Number Placeholder 2">
            <a:extLst>
              <a:ext uri="{FF2B5EF4-FFF2-40B4-BE49-F238E27FC236}">
                <a16:creationId xmlns:a16="http://schemas.microsoft.com/office/drawing/2014/main" id="{E8E5B409-3C99-4ED0-8F8F-016D43DA8C9F}"/>
              </a:ext>
            </a:extLst>
          </p:cNvPr>
          <p:cNvSpPr>
            <a:spLocks noGrp="1"/>
          </p:cNvSpPr>
          <p:nvPr>
            <p:ph type="sldNum" sz="quarter" idx="12"/>
          </p:nvPr>
        </p:nvSpPr>
        <p:spPr/>
        <p:txBody>
          <a:bodyPr/>
          <a:lstStyle/>
          <a:p>
            <a:fld id="{96BCAAF5-03BA-4168-AC93-5456AEECE647}" type="slidenum">
              <a:rPr lang="en-US" smtClean="0"/>
              <a:t>1</a:t>
            </a:fld>
            <a:endParaRPr lang="en-US"/>
          </a:p>
        </p:txBody>
      </p:sp>
    </p:spTree>
    <p:extLst>
      <p:ext uri="{BB962C8B-B14F-4D97-AF65-F5344CB8AC3E}">
        <p14:creationId xmlns:p14="http://schemas.microsoft.com/office/powerpoint/2010/main" val="4201605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166" y="0"/>
            <a:ext cx="8229600" cy="533400"/>
          </a:xfrm>
        </p:spPr>
        <p:txBody>
          <a:bodyPr>
            <a:normAutofit fontScale="90000"/>
          </a:bodyPr>
          <a:lstStyle/>
          <a:p>
            <a:r>
              <a:rPr lang="en-US" dirty="0">
                <a:latin typeface="Times New Roman" panose="02020603050405020304" pitchFamily="18" charset="0"/>
                <a:cs typeface="Times New Roman" panose="02020603050405020304" pitchFamily="18" charset="0"/>
              </a:rPr>
              <a:t>Table of Content</a:t>
            </a:r>
          </a:p>
        </p:txBody>
      </p:sp>
      <p:sp>
        <p:nvSpPr>
          <p:cNvPr id="3" name="Content Placeholder 2"/>
          <p:cNvSpPr>
            <a:spLocks noGrp="1"/>
          </p:cNvSpPr>
          <p:nvPr>
            <p:ph idx="1"/>
          </p:nvPr>
        </p:nvSpPr>
        <p:spPr>
          <a:xfrm>
            <a:off x="457200" y="533400"/>
            <a:ext cx="8458200" cy="6096000"/>
          </a:xfrm>
        </p:spPr>
        <p:txBody>
          <a:bodyPr vert="horz" lIns="91440" tIns="45720" rIns="91440" bIns="45720" rtlCol="0" anchor="t">
            <a:noAutofit/>
          </a:bodyPr>
          <a:lstStyle/>
          <a:p>
            <a:pPr marL="0" indent="0">
              <a:buNone/>
            </a:pPr>
            <a:r>
              <a:rPr lang="en-US" sz="1200" b="1" dirty="0">
                <a:latin typeface="Times New Roman" panose="02020603050405020304" pitchFamily="18" charset="0"/>
                <a:cs typeface="Times New Roman" panose="02020603050405020304" pitchFamily="18" charset="0"/>
              </a:rPr>
              <a:t>Introduction......................................................................................................................................................................................... 3</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Objective of the Project  ………………............................................................................................................................................ 4</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Scope of Project ………………...........................................................................................................................................................5</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Functional Requirement(class diagram) ………………...................................................................................................................6</a:t>
            </a:r>
            <a:endParaRPr lang="en-US" sz="1200" b="1" dirty="0">
              <a:latin typeface="Times New Roman" panose="02020603050405020304" pitchFamily="18" charset="0"/>
              <a:ea typeface="Calibri"/>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Feasibility Study ………………......................................................................................................................................................... 7</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cs typeface="Times New Roman" panose="02020603050405020304" pitchFamily="18" charset="0"/>
              </a:rPr>
              <a:t>	Technical ……………….............................................................................................................................................. 7	Operational ……………….......................................................................................................................................... 10</a:t>
            </a:r>
          </a:p>
          <a:p>
            <a:pPr marL="0" indent="0">
              <a:buNone/>
            </a:pPr>
            <a:r>
              <a:rPr lang="en-US" sz="1200" dirty="0">
                <a:latin typeface="Times New Roman" panose="02020603050405020304" pitchFamily="18" charset="0"/>
                <a:cs typeface="Times New Roman" panose="02020603050405020304" pitchFamily="18" charset="0"/>
              </a:rPr>
              <a:t>	Economical ……………….......................................................................................................................................... 11</a:t>
            </a:r>
          </a:p>
          <a:p>
            <a:pPr marL="0" indent="0">
              <a:buNone/>
            </a:pPr>
            <a:r>
              <a:rPr lang="en-US" sz="1200" dirty="0">
                <a:latin typeface="Times New Roman" panose="02020603050405020304" pitchFamily="18" charset="0"/>
                <a:cs typeface="Times New Roman" panose="02020603050405020304" pitchFamily="18" charset="0"/>
              </a:rPr>
              <a:t>	Schedule ………………...............................................................................................................................................12</a:t>
            </a:r>
          </a:p>
          <a:p>
            <a:pPr marL="0" indent="0">
              <a:buNone/>
            </a:pPr>
            <a:r>
              <a:rPr lang="en-US" sz="1200" b="1" dirty="0">
                <a:latin typeface="Times New Roman" panose="02020603050405020304" pitchFamily="18" charset="0"/>
                <a:cs typeface="Times New Roman" panose="02020603050405020304" pitchFamily="18" charset="0"/>
              </a:rPr>
              <a:t>Methodology ………………............................................................................................................................................................... 13</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Literature Review ……………….......................................................................................................................................................14</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System Design ………………..........................................................................................................................................................…16</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cs typeface="Times New Roman" panose="02020603050405020304" pitchFamily="18" charset="0"/>
              </a:rPr>
              <a:t>	System architecture ………………...............................................................................................................................16</a:t>
            </a:r>
            <a:endParaRPr lang="en-US" sz="1200" b="1"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Class diagram ………………....................................................................................................................................... 17</a:t>
            </a:r>
          </a:p>
          <a:p>
            <a:pPr marL="0" indent="0">
              <a:buNone/>
            </a:pPr>
            <a:r>
              <a:rPr lang="en-US" sz="1200" dirty="0">
                <a:latin typeface="Times New Roman" panose="02020603050405020304" pitchFamily="18" charset="0"/>
                <a:cs typeface="Times New Roman" panose="02020603050405020304" pitchFamily="18" charset="0"/>
              </a:rPr>
              <a:t>	Sequence diagram.…………….................................................................................................................................... 18	</a:t>
            </a:r>
          </a:p>
          <a:p>
            <a:pPr marL="0" indent="0">
              <a:buNone/>
            </a:pPr>
            <a:r>
              <a:rPr lang="en-US" sz="1200" dirty="0">
                <a:latin typeface="Times New Roman" panose="02020603050405020304" pitchFamily="18" charset="0"/>
                <a:cs typeface="Times New Roman" panose="02020603050405020304" pitchFamily="18" charset="0"/>
              </a:rPr>
              <a:t>	State diagram ………………........................................................................................................................................19</a:t>
            </a:r>
          </a:p>
          <a:p>
            <a:pPr marL="0" indent="0">
              <a:buNone/>
            </a:pPr>
            <a:r>
              <a:rPr lang="en-US" sz="1200" dirty="0">
                <a:latin typeface="Times New Roman" panose="02020603050405020304" pitchFamily="18" charset="0"/>
                <a:cs typeface="Times New Roman" panose="02020603050405020304" pitchFamily="18" charset="0"/>
              </a:rPr>
              <a:t>	Activity diagram ……………….................................................................................................................................. 20</a:t>
            </a:r>
          </a:p>
          <a:p>
            <a:pPr marL="0" indent="0">
              <a:buNone/>
            </a:pPr>
            <a:r>
              <a:rPr lang="en-US" sz="1200" dirty="0">
                <a:latin typeface="Times New Roman" panose="02020603050405020304" pitchFamily="18" charset="0"/>
                <a:cs typeface="Times New Roman" panose="02020603050405020304" pitchFamily="18" charset="0"/>
              </a:rPr>
              <a:t>	Component diagram…………………………………………………………………………………………………..21</a:t>
            </a:r>
          </a:p>
          <a:p>
            <a:pPr marL="0" indent="0">
              <a:buNone/>
            </a:pPr>
            <a:r>
              <a:rPr lang="en-US" sz="1200" dirty="0">
                <a:latin typeface="Times New Roman" panose="02020603050405020304" pitchFamily="18" charset="0"/>
                <a:cs typeface="Times New Roman" panose="02020603050405020304" pitchFamily="18" charset="0"/>
              </a:rPr>
              <a:t>	Deployment diagram…………………………………………………………………………………...……………..22</a:t>
            </a:r>
          </a:p>
          <a:p>
            <a:pPr marL="0" indent="0">
              <a:buNone/>
            </a:pPr>
            <a:r>
              <a:rPr lang="en-US" sz="1200" b="1" dirty="0">
                <a:latin typeface="Times New Roman" panose="02020603050405020304" pitchFamily="18" charset="0"/>
                <a:cs typeface="Times New Roman" panose="02020603050405020304" pitchFamily="18" charset="0"/>
              </a:rPr>
              <a:t>Tools used ……………….................................................................................................................................................................... 23</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Modules……………………………………………………………………………………………………………………….………24</a:t>
            </a:r>
          </a:p>
          <a:p>
            <a:pPr marL="0" indent="0">
              <a:buNone/>
            </a:pPr>
            <a:r>
              <a:rPr lang="en-US" sz="1200" b="1" dirty="0">
                <a:latin typeface="Times New Roman" panose="02020603050405020304" pitchFamily="18" charset="0"/>
                <a:cs typeface="Times New Roman" panose="02020603050405020304" pitchFamily="18" charset="0"/>
              </a:rPr>
              <a:t>Testing………………………………………………………………………………………………..……….……….………...……29</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Conclusion ……………….................................................................................................................................................................. 33</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References ………………...................................................................................................................................................................34</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Demo</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   </a:t>
            </a:r>
          </a:p>
          <a:p>
            <a:pPr marL="0" indent="0">
              <a:buNone/>
            </a:pPr>
            <a:endParaRPr lang="en-US" sz="1400" dirty="0"/>
          </a:p>
          <a:p>
            <a:pPr marL="0" indent="0">
              <a:buNone/>
            </a:pPr>
            <a:endParaRPr lang="en-US" sz="1400" dirty="0"/>
          </a:p>
          <a:p>
            <a:pPr marL="0" indent="0">
              <a:buNone/>
            </a:pPr>
            <a:r>
              <a:rPr lang="en-US" sz="1400" dirty="0"/>
              <a:t>   </a:t>
            </a:r>
          </a:p>
        </p:txBody>
      </p:sp>
    </p:spTree>
    <p:extLst>
      <p:ext uri="{BB962C8B-B14F-4D97-AF65-F5344CB8AC3E}">
        <p14:creationId xmlns:p14="http://schemas.microsoft.com/office/powerpoint/2010/main" val="3571392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dirty="0">
                <a:latin typeface="Times New Roman" panose="02020603050405020304" pitchFamily="18" charset="0"/>
                <a:cs typeface="Times New Roman" panose="02020603050405020304" pitchFamily="18" charset="0"/>
              </a:rPr>
              <a:t>Introduction to project</a:t>
            </a:r>
          </a:p>
        </p:txBody>
      </p:sp>
      <p:sp>
        <p:nvSpPr>
          <p:cNvPr id="3" name="Content Placeholder 2"/>
          <p:cNvSpPr>
            <a:spLocks noGrp="1"/>
          </p:cNvSpPr>
          <p:nvPr>
            <p:ph idx="1"/>
          </p:nvPr>
        </p:nvSpPr>
        <p:spPr>
          <a:xfrm>
            <a:off x="452758" y="1596565"/>
            <a:ext cx="8219349" cy="4757421"/>
          </a:xfrm>
        </p:spPr>
        <p:txBody>
          <a:bodyPr vert="horz" lIns="91440" tIns="45720" rIns="91440" bIns="45720" rtlCol="0" anchor="t">
            <a:noAutofit/>
          </a:bodyPr>
          <a:lstStyle/>
          <a:p>
            <a:pPr marL="457200" indent="-457200" algn="just">
              <a:lnSpc>
                <a:spcPct val="150000"/>
              </a:lnSpc>
            </a:pPr>
            <a:r>
              <a:rPr lang="en-US" sz="2200" dirty="0">
                <a:solidFill>
                  <a:srgbClr val="000000"/>
                </a:solidFill>
                <a:latin typeface="Times New Roman"/>
                <a:ea typeface="+mn-lt"/>
                <a:cs typeface="Times New Roman"/>
              </a:rPr>
              <a:t>A web-based system that uses Machine Learning to </a:t>
            </a:r>
            <a:r>
              <a:rPr lang="en-US" sz="2200">
                <a:solidFill>
                  <a:srgbClr val="000000"/>
                </a:solidFill>
                <a:latin typeface="Times New Roman"/>
                <a:ea typeface="+mn-lt"/>
                <a:cs typeface="Times New Roman"/>
              </a:rPr>
              <a:t>predict diabetes</a:t>
            </a:r>
            <a:r>
              <a:rPr lang="en-US" sz="2200" dirty="0">
                <a:solidFill>
                  <a:srgbClr val="000000"/>
                </a:solidFill>
                <a:latin typeface="Times New Roman"/>
                <a:ea typeface="+mn-lt"/>
                <a:cs typeface="Times New Roman"/>
              </a:rPr>
              <a:t>  risk from patient health data.</a:t>
            </a:r>
          </a:p>
          <a:p>
            <a:pPr marL="457200" indent="-457200" algn="just">
              <a:lnSpc>
                <a:spcPct val="150000"/>
              </a:lnSpc>
            </a:pPr>
            <a:r>
              <a:rPr lang="en-US" sz="2200">
                <a:solidFill>
                  <a:srgbClr val="000000"/>
                </a:solidFill>
                <a:latin typeface="Times New Roman"/>
                <a:ea typeface="+mn-lt"/>
                <a:cs typeface="Times New Roman"/>
              </a:rPr>
              <a:t>Uses K-Nearest Neighbors (KNN) algorithm to analyze factors like glucose level, BMI, age, pregnancies, and skin thickness.</a:t>
            </a:r>
            <a:endParaRPr lang="en-US">
              <a:latin typeface="Times New Roman"/>
              <a:ea typeface="Calibri"/>
              <a:cs typeface="Times New Roman"/>
            </a:endParaRPr>
          </a:p>
          <a:p>
            <a:pPr marL="457200" indent="-457200" algn="just">
              <a:lnSpc>
                <a:spcPct val="150000"/>
              </a:lnSpc>
            </a:pPr>
            <a:r>
              <a:rPr lang="en-US" sz="2200" dirty="0">
                <a:solidFill>
                  <a:srgbClr val="000000"/>
                </a:solidFill>
                <a:latin typeface="Times New Roman"/>
                <a:ea typeface="+mn-lt"/>
                <a:cs typeface="Times New Roman"/>
              </a:rPr>
              <a:t>Built using Python, </a:t>
            </a:r>
            <a:r>
              <a:rPr lang="en-US" sz="2200" dirty="0" err="1">
                <a:solidFill>
                  <a:srgbClr val="000000"/>
                </a:solidFill>
                <a:latin typeface="Times New Roman"/>
                <a:ea typeface="+mn-lt"/>
                <a:cs typeface="Times New Roman"/>
              </a:rPr>
              <a:t>Streamlit</a:t>
            </a:r>
            <a:r>
              <a:rPr lang="en-US" sz="2200" dirty="0">
                <a:solidFill>
                  <a:srgbClr val="000000"/>
                </a:solidFill>
                <a:latin typeface="Times New Roman"/>
                <a:ea typeface="+mn-lt"/>
                <a:cs typeface="Times New Roman"/>
              </a:rPr>
              <a:t>, Scikit-learn, and JSON for efficient data storage and a reliable platform.</a:t>
            </a:r>
            <a:endParaRPr lang="en-US">
              <a:latin typeface="Times New Roman"/>
              <a:ea typeface="+mn-lt"/>
              <a:cs typeface="Times New Roman"/>
            </a:endParaRPr>
          </a:p>
          <a:p>
            <a:pPr marL="457200" indent="-457200" algn="just">
              <a:lnSpc>
                <a:spcPct val="150000"/>
              </a:lnSpc>
            </a:pPr>
            <a:r>
              <a:rPr lang="en-US" sz="2200">
                <a:solidFill>
                  <a:srgbClr val="000000"/>
                </a:solidFill>
                <a:latin typeface="Times New Roman"/>
                <a:ea typeface="+mn-lt"/>
                <a:cs typeface="Times New Roman"/>
              </a:rPr>
              <a:t> Designed to support early detection and preventive care by helping patients make informed healthcare decisions.</a:t>
            </a:r>
            <a:endParaRPr lang="en-US">
              <a:latin typeface="Times New Roman"/>
              <a:ea typeface="+mn-lt"/>
              <a:cs typeface="Times New Roman"/>
            </a:endParaRPr>
          </a:p>
        </p:txBody>
      </p:sp>
      <p:sp>
        <p:nvSpPr>
          <p:cNvPr id="4" name="Slide Number Placeholder 3">
            <a:extLst>
              <a:ext uri="{FF2B5EF4-FFF2-40B4-BE49-F238E27FC236}">
                <a16:creationId xmlns:a16="http://schemas.microsoft.com/office/drawing/2014/main" id="{CB96D9BF-F2F5-418C-A82E-01FE44C87BD8}"/>
              </a:ext>
            </a:extLst>
          </p:cNvPr>
          <p:cNvSpPr>
            <a:spLocks noGrp="1"/>
          </p:cNvSpPr>
          <p:nvPr>
            <p:ph type="sldNum" sz="quarter" idx="12"/>
          </p:nvPr>
        </p:nvSpPr>
        <p:spPr/>
        <p:txBody>
          <a:bodyPr/>
          <a:lstStyle/>
          <a:p>
            <a:fld id="{96BCAAF5-03BA-4168-AC93-5456AEECE647}" type="slidenum">
              <a:rPr lang="en-US" smtClean="0"/>
              <a:t>3</a:t>
            </a:fld>
            <a:endParaRPr lang="en-US"/>
          </a:p>
        </p:txBody>
      </p:sp>
    </p:spTree>
    <p:extLst>
      <p:ext uri="{BB962C8B-B14F-4D97-AF65-F5344CB8AC3E}">
        <p14:creationId xmlns:p14="http://schemas.microsoft.com/office/powerpoint/2010/main" val="2023396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 of the Project</a:t>
            </a:r>
          </a:p>
        </p:txBody>
      </p:sp>
      <p:sp>
        <p:nvSpPr>
          <p:cNvPr id="3" name="Content Placeholder 2"/>
          <p:cNvSpPr>
            <a:spLocks noGrp="1"/>
          </p:cNvSpPr>
          <p:nvPr>
            <p:ph idx="1"/>
          </p:nvPr>
        </p:nvSpPr>
        <p:spPr>
          <a:xfrm>
            <a:off x="457200" y="1415680"/>
            <a:ext cx="8229600" cy="4525963"/>
          </a:xfrm>
        </p:spPr>
        <p:txBody>
          <a:bodyPr vert="horz" lIns="91440" tIns="45720" rIns="91440" bIns="45720" rtlCol="0" anchor="t">
            <a:normAutofit/>
          </a:bodyPr>
          <a:lstStyle/>
          <a:p>
            <a:pPr algn="just"/>
            <a:r>
              <a:rPr lang="en-US" sz="2200" dirty="0">
                <a:latin typeface="Times New Roman"/>
                <a:cs typeface="Times New Roman"/>
              </a:rPr>
              <a:t>To classify diabetes risk assessment using machine learning to classify patients into high-risk and low-risk categories for timely intervention.</a:t>
            </a:r>
          </a:p>
          <a:p>
            <a:pPr algn="just"/>
            <a:r>
              <a:rPr lang="en-US" sz="2200" dirty="0">
                <a:solidFill>
                  <a:srgbClr val="000000"/>
                </a:solidFill>
                <a:latin typeface="Times New Roman"/>
                <a:ea typeface="+mn-lt"/>
                <a:cs typeface="Times New Roman"/>
              </a:rPr>
              <a:t>To provide an accessible digital platform for early diabetes risk assessment, encouraging timely medical consultation and proactive health management.</a:t>
            </a:r>
            <a:endParaRPr lang="en-US">
              <a:latin typeface="Times New Roman"/>
              <a:ea typeface="+mn-lt"/>
              <a:cs typeface="Times New Roman"/>
            </a:endParaRPr>
          </a:p>
          <a:p>
            <a:pPr lvl="0" algn="just"/>
            <a:r>
              <a:rPr lang="en-US" sz="2200" dirty="0">
                <a:latin typeface="Times New Roman" panose="02020603050405020304" pitchFamily="18" charset="0"/>
                <a:cs typeface="Times New Roman" panose="02020603050405020304" pitchFamily="18" charset="0"/>
              </a:rPr>
              <a:t>To store and display prediction history for patients and healthcare providers.</a:t>
            </a:r>
          </a:p>
        </p:txBody>
      </p:sp>
      <p:sp>
        <p:nvSpPr>
          <p:cNvPr id="4" name="Slide Number Placeholder 3">
            <a:extLst>
              <a:ext uri="{FF2B5EF4-FFF2-40B4-BE49-F238E27FC236}">
                <a16:creationId xmlns:a16="http://schemas.microsoft.com/office/drawing/2014/main" id="{D7DAD376-C662-41BC-A57A-CE85B91DC281}"/>
              </a:ext>
            </a:extLst>
          </p:cNvPr>
          <p:cNvSpPr>
            <a:spLocks noGrp="1"/>
          </p:cNvSpPr>
          <p:nvPr>
            <p:ph type="sldNum" sz="quarter" idx="12"/>
          </p:nvPr>
        </p:nvSpPr>
        <p:spPr/>
        <p:txBody>
          <a:bodyPr/>
          <a:lstStyle/>
          <a:p>
            <a:fld id="{96BCAAF5-03BA-4168-AC93-5456AEECE647}" type="slidenum">
              <a:rPr lang="en-US" smtClean="0"/>
              <a:t>4</a:t>
            </a:fld>
            <a:endParaRPr lang="en-US"/>
          </a:p>
        </p:txBody>
      </p:sp>
    </p:spTree>
    <p:extLst>
      <p:ext uri="{BB962C8B-B14F-4D97-AF65-F5344CB8AC3E}">
        <p14:creationId xmlns:p14="http://schemas.microsoft.com/office/powerpoint/2010/main" val="3385988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Scope of Project</a:t>
            </a:r>
          </a:p>
        </p:txBody>
      </p:sp>
      <p:sp>
        <p:nvSpPr>
          <p:cNvPr id="3" name="Content Placeholder 2"/>
          <p:cNvSpPr>
            <a:spLocks noGrp="1"/>
          </p:cNvSpPr>
          <p:nvPr>
            <p:ph idx="1"/>
          </p:nvPr>
        </p:nvSpPr>
        <p:spPr/>
        <p:txBody>
          <a:bodyPr>
            <a:normAutofit/>
          </a:bodyPr>
          <a:lstStyle/>
          <a:p>
            <a:pPr lvl="0" algn="just"/>
            <a:r>
              <a:rPr lang="en-US" sz="2200" dirty="0">
                <a:latin typeface="Times New Roman" panose="02020603050405020304" pitchFamily="18" charset="0"/>
                <a:cs typeface="Times New Roman" panose="02020603050405020304" pitchFamily="18" charset="0"/>
              </a:rPr>
              <a:t>The system enables healthcare providers and patients to generate personalized diabetes risk assessments based on individual health metrics.</a:t>
            </a:r>
          </a:p>
          <a:p>
            <a:pPr lvl="0" algn="just"/>
            <a:r>
              <a:rPr lang="en-US" sz="2200" dirty="0">
                <a:latin typeface="Times New Roman" panose="02020603050405020304" pitchFamily="18" charset="0"/>
                <a:cs typeface="Times New Roman" panose="02020603050405020304" pitchFamily="18" charset="0"/>
              </a:rPr>
              <a:t>The system enhances accuracy by implementing a trained KNN algorithm, providing reliable risk classification and doctor recommendations for early intervention.</a:t>
            </a:r>
          </a:p>
        </p:txBody>
      </p:sp>
      <p:sp>
        <p:nvSpPr>
          <p:cNvPr id="4" name="Slide Number Placeholder 3">
            <a:extLst>
              <a:ext uri="{FF2B5EF4-FFF2-40B4-BE49-F238E27FC236}">
                <a16:creationId xmlns:a16="http://schemas.microsoft.com/office/drawing/2014/main" id="{478E4E23-D5FB-48D6-9E5E-3C022853A0DF}"/>
              </a:ext>
            </a:extLst>
          </p:cNvPr>
          <p:cNvSpPr>
            <a:spLocks noGrp="1"/>
          </p:cNvSpPr>
          <p:nvPr>
            <p:ph type="sldNum" sz="quarter" idx="12"/>
          </p:nvPr>
        </p:nvSpPr>
        <p:spPr/>
        <p:txBody>
          <a:bodyPr/>
          <a:lstStyle/>
          <a:p>
            <a:fld id="{96BCAAF5-03BA-4168-AC93-5456AEECE647}" type="slidenum">
              <a:rPr lang="en-US" smtClean="0"/>
              <a:t>5</a:t>
            </a:fld>
            <a:endParaRPr lang="en-US"/>
          </a:p>
        </p:txBody>
      </p:sp>
    </p:spTree>
    <p:extLst>
      <p:ext uri="{BB962C8B-B14F-4D97-AF65-F5344CB8AC3E}">
        <p14:creationId xmlns:p14="http://schemas.microsoft.com/office/powerpoint/2010/main" val="3777533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53725-66F5-FC8E-4D54-1910CC9C224A}"/>
              </a:ext>
            </a:extLst>
          </p:cNvPr>
          <p:cNvSpPr>
            <a:spLocks noGrp="1"/>
          </p:cNvSpPr>
          <p:nvPr>
            <p:ph type="title"/>
          </p:nvPr>
        </p:nvSpPr>
        <p:spPr>
          <a:xfrm>
            <a:off x="457200" y="197875"/>
            <a:ext cx="8229600" cy="731838"/>
          </a:xfrm>
        </p:spPr>
        <p:txBody>
          <a:bodyPr>
            <a:normAutofit fontScale="90000"/>
          </a:bodyPr>
          <a:lstStyle/>
          <a:p>
            <a:r>
              <a:rPr lang="en-US" dirty="0">
                <a:latin typeface="Times New Roman" panose="02020603050405020304" pitchFamily="18" charset="0"/>
                <a:cs typeface="Times New Roman" panose="02020603050405020304" pitchFamily="18" charset="0"/>
              </a:rPr>
              <a:t>Functional Requirement</a:t>
            </a:r>
          </a:p>
        </p:txBody>
      </p:sp>
      <p:sp>
        <p:nvSpPr>
          <p:cNvPr id="5" name="TextBox 4"/>
          <p:cNvSpPr txBox="1"/>
          <p:nvPr/>
        </p:nvSpPr>
        <p:spPr>
          <a:xfrm>
            <a:off x="2971800" y="6400800"/>
            <a:ext cx="264046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Use Case Diagram</a:t>
            </a:r>
          </a:p>
        </p:txBody>
      </p:sp>
      <p:sp>
        <p:nvSpPr>
          <p:cNvPr id="3" name="Slide Number Placeholder 2">
            <a:extLst>
              <a:ext uri="{FF2B5EF4-FFF2-40B4-BE49-F238E27FC236}">
                <a16:creationId xmlns:a16="http://schemas.microsoft.com/office/drawing/2014/main" id="{BE739374-ED76-4344-AFC4-20EC29E7795C}"/>
              </a:ext>
            </a:extLst>
          </p:cNvPr>
          <p:cNvSpPr>
            <a:spLocks noGrp="1"/>
          </p:cNvSpPr>
          <p:nvPr>
            <p:ph type="sldNum" sz="quarter" idx="12"/>
          </p:nvPr>
        </p:nvSpPr>
        <p:spPr/>
        <p:txBody>
          <a:bodyPr/>
          <a:lstStyle/>
          <a:p>
            <a:fld id="{96BCAAF5-03BA-4168-AC93-5456AEECE647}" type="slidenum">
              <a:rPr lang="en-US" smtClean="0"/>
              <a:t>6</a:t>
            </a:fld>
            <a:endParaRPr lang="en-US"/>
          </a:p>
        </p:txBody>
      </p:sp>
      <p:pic>
        <p:nvPicPr>
          <p:cNvPr id="6" name="Picture 5">
            <a:extLst>
              <a:ext uri="{FF2B5EF4-FFF2-40B4-BE49-F238E27FC236}">
                <a16:creationId xmlns:a16="http://schemas.microsoft.com/office/drawing/2014/main" id="{D77528A3-8A79-A53D-804C-84CCDEF8FFBA}"/>
              </a:ext>
            </a:extLst>
          </p:cNvPr>
          <p:cNvPicPr>
            <a:picLocks noChangeAspect="1"/>
          </p:cNvPicPr>
          <p:nvPr/>
        </p:nvPicPr>
        <p:blipFill rotWithShape="1">
          <a:blip r:embed="rId3">
            <a:extLst>
              <a:ext uri="{28A0092B-C50C-407E-A947-70E740481C1C}">
                <a14:useLocalDpi xmlns:a14="http://schemas.microsoft.com/office/drawing/2010/main" val="0"/>
              </a:ext>
            </a:extLst>
          </a:blip>
          <a:srcRect l="9273" r="7129" b="5065"/>
          <a:stretch>
            <a:fillRect/>
          </a:stretch>
        </p:blipFill>
        <p:spPr bwMode="auto">
          <a:xfrm>
            <a:off x="1676400" y="929714"/>
            <a:ext cx="5943600" cy="547108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75868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Feasibility Study</a:t>
            </a:r>
          </a:p>
        </p:txBody>
      </p:sp>
      <p:sp>
        <p:nvSpPr>
          <p:cNvPr id="3" name="Content Placeholder 2"/>
          <p:cNvSpPr>
            <a:spLocks noGrp="1"/>
          </p:cNvSpPr>
          <p:nvPr>
            <p:ph idx="1"/>
          </p:nvPr>
        </p:nvSpPr>
        <p:spPr/>
        <p:txBody>
          <a:bodyPr>
            <a:noAutofit/>
          </a:bodyPr>
          <a:lstStyle/>
          <a:p>
            <a:pPr algn="just"/>
            <a:r>
              <a:rPr lang="en-US" sz="2600" dirty="0">
                <a:latin typeface="Times New Roman" panose="02020603050405020304" pitchFamily="18" charset="0"/>
                <a:cs typeface="Times New Roman" panose="02020603050405020304" pitchFamily="18" charset="0"/>
              </a:rPr>
              <a:t>Technical Feasibility</a:t>
            </a:r>
          </a:p>
          <a:p>
            <a:pPr lvl="1" algn="just"/>
            <a:r>
              <a:rPr lang="en-US" sz="1800" dirty="0">
                <a:latin typeface="Times New Roman" panose="02020603050405020304" pitchFamily="18" charset="0"/>
                <a:cs typeface="Times New Roman" panose="02020603050405020304" pitchFamily="18" charset="0"/>
              </a:rPr>
              <a:t>Hardware Requirements:</a:t>
            </a:r>
          </a:p>
          <a:p>
            <a:pPr lvl="2" algn="just"/>
            <a:r>
              <a:rPr lang="en-US" sz="1800" b="1" dirty="0">
                <a:latin typeface="Times New Roman" panose="02020603050405020304" pitchFamily="18" charset="0"/>
                <a:cs typeface="Times New Roman" panose="02020603050405020304" pitchFamily="18" charset="0"/>
              </a:rPr>
              <a:t>RAM Size</a:t>
            </a:r>
            <a:r>
              <a:rPr lang="en-US" sz="1800" dirty="0">
                <a:latin typeface="Times New Roman" panose="02020603050405020304" pitchFamily="18" charset="0"/>
                <a:cs typeface="Times New Roman" panose="02020603050405020304" pitchFamily="18" charset="0"/>
              </a:rPr>
              <a:t>: The system requires a minimum of 4GB RAM to ensure smooth operation as we are working with Python, </a:t>
            </a:r>
            <a:r>
              <a:rPr lang="en-US" sz="1800" dirty="0" err="1">
                <a:latin typeface="Times New Roman" panose="02020603050405020304" pitchFamily="18" charset="0"/>
                <a:cs typeface="Times New Roman" panose="02020603050405020304" pitchFamily="18" charset="0"/>
              </a:rPr>
              <a:t>Streamlit</a:t>
            </a:r>
            <a:r>
              <a:rPr lang="en-US" sz="1800" dirty="0">
                <a:latin typeface="Times New Roman" panose="02020603050405020304" pitchFamily="18" charset="0"/>
                <a:cs typeface="Times New Roman" panose="02020603050405020304" pitchFamily="18" charset="0"/>
              </a:rPr>
              <a:t>, and KNN machine learning algorithm on standard datasets. It is currently feasible within the available hardware options.</a:t>
            </a:r>
          </a:p>
          <a:p>
            <a:pPr lvl="2" algn="just"/>
            <a:r>
              <a:rPr lang="en-US" sz="1800" b="1" dirty="0">
                <a:latin typeface="Times New Roman" panose="02020603050405020304" pitchFamily="18" charset="0"/>
                <a:cs typeface="Times New Roman" panose="02020603050405020304" pitchFamily="18" charset="0"/>
              </a:rPr>
              <a:t>Processor Size: </a:t>
            </a:r>
            <a:r>
              <a:rPr lang="en-US" sz="1800" dirty="0">
                <a:latin typeface="Times New Roman" panose="02020603050405020304" pitchFamily="18" charset="0"/>
                <a:cs typeface="Times New Roman" panose="02020603050405020304" pitchFamily="18" charset="0"/>
              </a:rPr>
              <a:t>A dual-core or quad-core processor (such as Intel i3 or i5) is sufficient to handle the system's requirements, which primarily include data preprocessing, KNN model prediction, user authentication, CRUD operations, and </a:t>
            </a:r>
            <a:r>
              <a:rPr lang="en-US" sz="1800" dirty="0" err="1">
                <a:latin typeface="Times New Roman" panose="02020603050405020304" pitchFamily="18" charset="0"/>
                <a:cs typeface="Times New Roman" panose="02020603050405020304" pitchFamily="18" charset="0"/>
              </a:rPr>
              <a:t>Streamlit</a:t>
            </a:r>
            <a:r>
              <a:rPr lang="en-US" sz="1800" dirty="0">
                <a:latin typeface="Times New Roman" panose="02020603050405020304" pitchFamily="18" charset="0"/>
                <a:cs typeface="Times New Roman" panose="02020603050405020304" pitchFamily="18" charset="0"/>
              </a:rPr>
              <a:t> backend tasks. The current setup adequately supports these operations.</a:t>
            </a:r>
          </a:p>
          <a:p>
            <a:pPr algn="just"/>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5232300-2619-4B9F-9577-FFF7F4967294}"/>
              </a:ext>
            </a:extLst>
          </p:cNvPr>
          <p:cNvSpPr>
            <a:spLocks noGrp="1"/>
          </p:cNvSpPr>
          <p:nvPr>
            <p:ph type="sldNum" sz="quarter" idx="12"/>
          </p:nvPr>
        </p:nvSpPr>
        <p:spPr/>
        <p:txBody>
          <a:bodyPr/>
          <a:lstStyle/>
          <a:p>
            <a:fld id="{96BCAAF5-03BA-4168-AC93-5456AEECE647}" type="slidenum">
              <a:rPr lang="en-US" smtClean="0"/>
              <a:t>7</a:t>
            </a:fld>
            <a:endParaRPr lang="en-US" dirty="0"/>
          </a:p>
        </p:txBody>
      </p:sp>
    </p:spTree>
    <p:extLst>
      <p:ext uri="{BB962C8B-B14F-4D97-AF65-F5344CB8AC3E}">
        <p14:creationId xmlns:p14="http://schemas.microsoft.com/office/powerpoint/2010/main" val="3526477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3109A-E28B-1E27-664D-17EAFCE4429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Feasibility Study</a:t>
            </a:r>
            <a:endParaRPr lang="en-US" dirty="0"/>
          </a:p>
        </p:txBody>
      </p:sp>
      <p:sp>
        <p:nvSpPr>
          <p:cNvPr id="3" name="Content Placeholder 2">
            <a:extLst>
              <a:ext uri="{FF2B5EF4-FFF2-40B4-BE49-F238E27FC236}">
                <a16:creationId xmlns:a16="http://schemas.microsoft.com/office/drawing/2014/main" id="{EFC6B5BA-E697-ECFD-2747-31A4097E61A3}"/>
              </a:ext>
            </a:extLst>
          </p:cNvPr>
          <p:cNvSpPr>
            <a:spLocks noGrp="1"/>
          </p:cNvSpPr>
          <p:nvPr>
            <p:ph idx="1"/>
          </p:nvPr>
        </p:nvSpPr>
        <p:spPr/>
        <p:txBody>
          <a:bodyPr/>
          <a:lstStyle/>
          <a:p>
            <a:pPr lvl="2" algn="just"/>
            <a:r>
              <a:rPr lang="en-US" sz="2000" b="1" dirty="0">
                <a:latin typeface="Times New Roman" panose="02020603050405020304" pitchFamily="18" charset="0"/>
                <a:cs typeface="Times New Roman" panose="02020603050405020304" pitchFamily="18" charset="0"/>
              </a:rPr>
              <a:t>Storage Space: </a:t>
            </a:r>
            <a:r>
              <a:rPr lang="en-US" sz="2000" dirty="0">
                <a:latin typeface="Times New Roman" panose="02020603050405020304" pitchFamily="18" charset="0"/>
                <a:cs typeface="Times New Roman" panose="02020603050405020304" pitchFamily="18" charset="0"/>
              </a:rPr>
              <a:t>The system requires a minimum of 1GB of storage space to accommodate all the application files, JSON databases (</a:t>
            </a:r>
            <a:r>
              <a:rPr lang="en-US" sz="2000" dirty="0" err="1">
                <a:latin typeface="Times New Roman" panose="02020603050405020304" pitchFamily="18" charset="0"/>
                <a:cs typeface="Times New Roman" panose="02020603050405020304" pitchFamily="18" charset="0"/>
              </a:rPr>
              <a:t>users.json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doctors.json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predictions.json</a:t>
            </a:r>
            <a:r>
              <a:rPr lang="en-US" sz="2000" dirty="0">
                <a:latin typeface="Times New Roman" panose="02020603050405020304" pitchFamily="18" charset="0"/>
                <a:cs typeface="Times New Roman" panose="02020603050405020304" pitchFamily="18" charset="0"/>
              </a:rPr>
              <a:t>), the trained KNN model (</a:t>
            </a:r>
            <a:r>
              <a:rPr lang="en-US" sz="2000" dirty="0" err="1">
                <a:latin typeface="Times New Roman" panose="02020603050405020304" pitchFamily="18" charset="0"/>
                <a:cs typeface="Times New Roman" panose="02020603050405020304" pitchFamily="18" charset="0"/>
              </a:rPr>
              <a:t>knn_model.pkl</a:t>
            </a:r>
            <a:r>
              <a:rPr lang="en-US" sz="2000" dirty="0">
                <a:latin typeface="Times New Roman" panose="02020603050405020304" pitchFamily="18" charset="0"/>
                <a:cs typeface="Times New Roman" panose="02020603050405020304" pitchFamily="18" charset="0"/>
              </a:rPr>
              <a:t>), and future growth, which is feasible within the available storage options in our system.</a:t>
            </a:r>
          </a:p>
          <a:p>
            <a:pPr lvl="2" algn="just"/>
            <a:r>
              <a:rPr lang="en-US" sz="2000" b="1" dirty="0">
                <a:latin typeface="Times New Roman" panose="02020603050405020304" pitchFamily="18" charset="0"/>
                <a:cs typeface="Times New Roman" panose="02020603050405020304" pitchFamily="18" charset="0"/>
              </a:rPr>
              <a:t>Network Equipment: </a:t>
            </a:r>
            <a:r>
              <a:rPr lang="en-US" sz="2000" dirty="0">
                <a:latin typeface="Times New Roman" panose="02020603050405020304" pitchFamily="18" charset="0"/>
                <a:cs typeface="Times New Roman" panose="02020603050405020304" pitchFamily="18" charset="0"/>
              </a:rPr>
              <a:t>A reliable internet connection is important for accessing the web-based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application, loading the trained KNN model, and saving prediction results to the database. Normal routers and switches will handle the data transfer just fine, as the system only requires basic network connectivity for user authentication, health data submission, and result retrieval. Our current network should be able to handle it</a:t>
            </a:r>
          </a:p>
          <a:p>
            <a:endParaRPr lang="en-US" dirty="0"/>
          </a:p>
        </p:txBody>
      </p:sp>
      <p:sp>
        <p:nvSpPr>
          <p:cNvPr id="4" name="Slide Number Placeholder 3">
            <a:extLst>
              <a:ext uri="{FF2B5EF4-FFF2-40B4-BE49-F238E27FC236}">
                <a16:creationId xmlns:a16="http://schemas.microsoft.com/office/drawing/2014/main" id="{A84AC6CE-6F51-555B-AB70-23F8FA54D3C4}"/>
              </a:ext>
            </a:extLst>
          </p:cNvPr>
          <p:cNvSpPr>
            <a:spLocks noGrp="1"/>
          </p:cNvSpPr>
          <p:nvPr>
            <p:ph type="sldNum" sz="quarter" idx="12"/>
          </p:nvPr>
        </p:nvSpPr>
        <p:spPr/>
        <p:txBody>
          <a:bodyPr/>
          <a:lstStyle/>
          <a:p>
            <a:fld id="{96BCAAF5-03BA-4168-AC93-5456AEECE647}" type="slidenum">
              <a:rPr lang="en-US" smtClean="0"/>
              <a:t>8</a:t>
            </a:fld>
            <a:endParaRPr lang="en-US"/>
          </a:p>
        </p:txBody>
      </p:sp>
    </p:spTree>
    <p:extLst>
      <p:ext uri="{BB962C8B-B14F-4D97-AF65-F5344CB8AC3E}">
        <p14:creationId xmlns:p14="http://schemas.microsoft.com/office/powerpoint/2010/main" val="1738969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4556C3-9EF9-4CB6-B062-EF882EB3BCF2}"/>
              </a:ext>
            </a:extLst>
          </p:cNvPr>
          <p:cNvSpPr>
            <a:spLocks noGrp="1"/>
          </p:cNvSpPr>
          <p:nvPr>
            <p:ph idx="1"/>
          </p:nvPr>
        </p:nvSpPr>
        <p:spPr>
          <a:xfrm>
            <a:off x="457200" y="457200"/>
            <a:ext cx="8229600" cy="5668963"/>
          </a:xfrm>
        </p:spPr>
        <p:txBody>
          <a:bodyPr>
            <a:normAutofit/>
          </a:bodyPr>
          <a:lstStyle/>
          <a:p>
            <a:pPr lvl="1" algn="just"/>
            <a:r>
              <a:rPr lang="en-US" sz="2600" dirty="0">
                <a:latin typeface="Times New Roman" panose="02020603050405020304" pitchFamily="18" charset="0"/>
                <a:cs typeface="Times New Roman" panose="02020603050405020304" pitchFamily="18" charset="0"/>
              </a:rPr>
              <a:t>Software Requirements:</a:t>
            </a:r>
          </a:p>
          <a:p>
            <a:pPr lvl="2" algn="just"/>
            <a:r>
              <a:rPr lang="en-US" sz="2000" b="1" dirty="0">
                <a:latin typeface="Times New Roman" panose="02020603050405020304" pitchFamily="18" charset="0"/>
                <a:cs typeface="Times New Roman" panose="02020603050405020304" pitchFamily="18" charset="0"/>
              </a:rPr>
              <a:t>Operating System: </a:t>
            </a:r>
            <a:r>
              <a:rPr lang="en-US" sz="2000" dirty="0">
                <a:latin typeface="Times New Roman" panose="02020603050405020304" pitchFamily="18" charset="0"/>
                <a:cs typeface="Times New Roman" panose="02020603050405020304" pitchFamily="18" charset="0"/>
              </a:rPr>
              <a:t>The system is compatible with modern operating systems, such as Windows 10, macOS, or Linux distributions which is  feasible within the supported operating system options.</a:t>
            </a:r>
          </a:p>
          <a:p>
            <a:pPr lvl="2" algn="just"/>
            <a:r>
              <a:rPr lang="en-US" sz="2000" b="1" dirty="0">
                <a:latin typeface="Times New Roman" panose="02020603050405020304" pitchFamily="18" charset="0"/>
                <a:cs typeface="Times New Roman" panose="02020603050405020304" pitchFamily="18" charset="0"/>
              </a:rPr>
              <a:t>Development Environment: </a:t>
            </a:r>
            <a:r>
              <a:rPr lang="en-US" sz="2000" dirty="0">
                <a:latin typeface="Times New Roman" panose="02020603050405020304" pitchFamily="18" charset="0"/>
                <a:cs typeface="Times New Roman" panose="02020603050405020304" pitchFamily="18" charset="0"/>
              </a:rPr>
              <a:t>We're using Visual Studio Code for development it’s free, lightweight, and widely supported.  Python-based projects with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Scikit-learn, and data processing libraries. Easy to install and use.</a:t>
            </a:r>
          </a:p>
          <a:p>
            <a:pPr lvl="2" algn="just"/>
            <a:r>
              <a:rPr lang="en-US" sz="2000" b="1" dirty="0">
                <a:latin typeface="Times New Roman" panose="02020603050405020304" pitchFamily="18" charset="0"/>
                <a:cs typeface="Times New Roman" panose="02020603050405020304" pitchFamily="18" charset="0"/>
              </a:rPr>
              <a:t>Core Technologies:</a:t>
            </a:r>
            <a:r>
              <a:rPr lang="en-US" sz="2000" dirty="0">
                <a:latin typeface="Times New Roman" panose="02020603050405020304" pitchFamily="18" charset="0"/>
                <a:cs typeface="Times New Roman" panose="02020603050405020304" pitchFamily="18" charset="0"/>
              </a:rPr>
              <a:t> This project is built on Python,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Scikit-learn, and JSON. All of these tools are open-source and free, keeping development cost-effective and flexible for our diabetes prediction needs.</a:t>
            </a:r>
          </a:p>
        </p:txBody>
      </p:sp>
      <p:sp>
        <p:nvSpPr>
          <p:cNvPr id="2" name="Slide Number Placeholder 1">
            <a:extLst>
              <a:ext uri="{FF2B5EF4-FFF2-40B4-BE49-F238E27FC236}">
                <a16:creationId xmlns:a16="http://schemas.microsoft.com/office/drawing/2014/main" id="{9B01E1C2-AB08-4825-8546-BBDE593AE061}"/>
              </a:ext>
            </a:extLst>
          </p:cNvPr>
          <p:cNvSpPr>
            <a:spLocks noGrp="1"/>
          </p:cNvSpPr>
          <p:nvPr>
            <p:ph type="sldNum" sz="quarter" idx="12"/>
          </p:nvPr>
        </p:nvSpPr>
        <p:spPr/>
        <p:txBody>
          <a:bodyPr/>
          <a:lstStyle/>
          <a:p>
            <a:fld id="{96BCAAF5-03BA-4168-AC93-5456AEECE647}" type="slidenum">
              <a:rPr lang="en-US" smtClean="0"/>
              <a:t>9</a:t>
            </a:fld>
            <a:endParaRPr lang="en-US"/>
          </a:p>
        </p:txBody>
      </p:sp>
    </p:spTree>
    <p:extLst>
      <p:ext uri="{BB962C8B-B14F-4D97-AF65-F5344CB8AC3E}">
        <p14:creationId xmlns:p14="http://schemas.microsoft.com/office/powerpoint/2010/main" val="416682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algn="just"/>
            <a:r>
              <a:rPr lang="en-US" sz="2600" dirty="0">
                <a:latin typeface="Times New Roman" panose="02020603050405020304" pitchFamily="18" charset="0"/>
                <a:cs typeface="Times New Roman" panose="02020603050405020304" pitchFamily="18" charset="0"/>
              </a:rPr>
              <a:t>Operational Feasibility</a:t>
            </a:r>
          </a:p>
          <a:p>
            <a:pPr lvl="1" algn="just"/>
            <a:endParaRPr lang="en-US" sz="1800" b="1" dirty="0">
              <a:latin typeface="Times New Roman" panose="02020603050405020304" pitchFamily="18" charset="0"/>
              <a:cs typeface="Times New Roman" panose="02020603050405020304" pitchFamily="18" charset="0"/>
            </a:endParaRPr>
          </a:p>
          <a:p>
            <a:pPr lvl="1" algn="just"/>
            <a:r>
              <a:rPr lang="en-US" sz="1800" b="1" dirty="0">
                <a:latin typeface="Times New Roman" panose="02020603050405020304" pitchFamily="18" charset="0"/>
                <a:cs typeface="Times New Roman" panose="02020603050405020304" pitchFamily="18" charset="0"/>
              </a:rPr>
              <a:t>Global Accessibility: </a:t>
            </a:r>
            <a:r>
              <a:rPr lang="en-US" sz="1800" dirty="0">
                <a:latin typeface="Times New Roman" panose="02020603050405020304" pitchFamily="18" charset="0"/>
                <a:cs typeface="Times New Roman" panose="02020603050405020304" pitchFamily="18" charset="0"/>
              </a:rPr>
              <a:t>The system can be accessed globally by healthcare providers and patients for diabetes risk assessment, prediction results, and secure doctor recommendations from any location with internet connectivity. </a:t>
            </a:r>
          </a:p>
          <a:p>
            <a:pPr lvl="1" algn="just"/>
            <a:r>
              <a:rPr lang="en-US" sz="1800" b="1" dirty="0">
                <a:latin typeface="Times New Roman" panose="02020603050405020304" pitchFamily="18" charset="0"/>
                <a:cs typeface="Times New Roman" panose="02020603050405020304" pitchFamily="18" charset="0"/>
              </a:rPr>
              <a:t>User-Friendly Design: </a:t>
            </a:r>
            <a:r>
              <a:rPr lang="en-US" sz="1800" dirty="0">
                <a:latin typeface="Times New Roman" panose="02020603050405020304" pitchFamily="18" charset="0"/>
                <a:cs typeface="Times New Roman" panose="02020603050405020304" pitchFamily="18" charset="0"/>
              </a:rPr>
              <a:t>The interface is simple and intuitive, making it easy for both technical and non-technical users to operate the platform without training.</a:t>
            </a:r>
          </a:p>
          <a:p>
            <a:pPr lvl="1" algn="just"/>
            <a:r>
              <a:rPr lang="en-US" sz="1800" b="1" dirty="0">
                <a:latin typeface="Times New Roman" panose="02020603050405020304" pitchFamily="18" charset="0"/>
                <a:cs typeface="Times New Roman" panose="02020603050405020304" pitchFamily="18" charset="0"/>
              </a:rPr>
              <a:t>Secure Functionality: </a:t>
            </a:r>
            <a:r>
              <a:rPr lang="en-US" sz="1800" dirty="0">
                <a:latin typeface="Times New Roman" panose="02020603050405020304" pitchFamily="18" charset="0"/>
                <a:cs typeface="Times New Roman" panose="02020603050405020304" pitchFamily="18" charset="0"/>
              </a:rPr>
              <a:t>Incorporates K-Nearest Neighbors (KNN) algorithm with hyperparameter tuning and cross-validation to ensure accurate and trusted diabetes risk predictions for every patient.</a:t>
            </a:r>
          </a:p>
        </p:txBody>
      </p:sp>
      <p:sp>
        <p:nvSpPr>
          <p:cNvPr id="2" name="Slide Number Placeholder 1">
            <a:extLst>
              <a:ext uri="{FF2B5EF4-FFF2-40B4-BE49-F238E27FC236}">
                <a16:creationId xmlns:a16="http://schemas.microsoft.com/office/drawing/2014/main" id="{51DD547F-369F-40F3-94DF-C67C748ECED5}"/>
              </a:ext>
            </a:extLst>
          </p:cNvPr>
          <p:cNvSpPr>
            <a:spLocks noGrp="1"/>
          </p:cNvSpPr>
          <p:nvPr>
            <p:ph type="sldNum" sz="quarter" idx="12"/>
          </p:nvPr>
        </p:nvSpPr>
        <p:spPr/>
        <p:txBody>
          <a:bodyPr/>
          <a:lstStyle/>
          <a:p>
            <a:fld id="{96BCAAF5-03BA-4168-AC93-5456AEECE647}" type="slidenum">
              <a:rPr lang="en-US" smtClean="0"/>
              <a:t>10</a:t>
            </a:fld>
            <a:endParaRPr lang="en-US"/>
          </a:p>
        </p:txBody>
      </p:sp>
    </p:spTree>
    <p:extLst>
      <p:ext uri="{BB962C8B-B14F-4D97-AF65-F5344CB8AC3E}">
        <p14:creationId xmlns:p14="http://schemas.microsoft.com/office/powerpoint/2010/main" val="180423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r>
              <a:rPr lang="en-US" sz="2600" dirty="0">
                <a:latin typeface="Times New Roman" panose="02020603050405020304" pitchFamily="18" charset="0"/>
                <a:cs typeface="Times New Roman" panose="02020603050405020304" pitchFamily="18" charset="0"/>
              </a:rPr>
              <a:t>Economical Feasibility</a:t>
            </a:r>
          </a:p>
          <a:p>
            <a:pPr lvl="1" algn="just"/>
            <a:endParaRPr lang="en-US" sz="1800" b="1" dirty="0">
              <a:latin typeface="Times New Roman" panose="02020603050405020304" pitchFamily="18" charset="0"/>
              <a:cs typeface="Times New Roman" panose="02020603050405020304" pitchFamily="18" charset="0"/>
            </a:endParaRPr>
          </a:p>
          <a:p>
            <a:pPr lvl="1" algn="just"/>
            <a:r>
              <a:rPr lang="en-US" sz="1800" b="1" dirty="0">
                <a:latin typeface="Times New Roman" panose="02020603050405020304" pitchFamily="18" charset="0"/>
                <a:cs typeface="Times New Roman" panose="02020603050405020304" pitchFamily="18" charset="0"/>
              </a:rPr>
              <a:t>Minimal Hardware Requirement: </a:t>
            </a:r>
            <a:r>
              <a:rPr lang="en-US" sz="1800" dirty="0">
                <a:latin typeface="Times New Roman" panose="02020603050405020304" pitchFamily="18" charset="0"/>
                <a:cs typeface="Times New Roman" panose="02020603050405020304" pitchFamily="18" charset="0"/>
              </a:rPr>
              <a:t>A basic laptop or PC with the minimum required specifications is sufficient for development and use.</a:t>
            </a:r>
          </a:p>
          <a:p>
            <a:pPr lvl="1" algn="just"/>
            <a:r>
              <a:rPr lang="en-US" sz="1800" b="1" dirty="0">
                <a:latin typeface="Times New Roman" panose="02020603050405020304" pitchFamily="18" charset="0"/>
                <a:cs typeface="Times New Roman" panose="02020603050405020304" pitchFamily="18" charset="0"/>
              </a:rPr>
              <a:t>Low Operational Cost: </a:t>
            </a:r>
            <a:r>
              <a:rPr lang="en-US" sz="1800" dirty="0">
                <a:latin typeface="Times New Roman" panose="02020603050405020304" pitchFamily="18" charset="0"/>
                <a:cs typeface="Times New Roman" panose="02020603050405020304" pitchFamily="18" charset="0"/>
              </a:rPr>
              <a:t>For end-users and healthcare providers, the only recurring cost is a stable internet connection no expensive software licenses, subscriptions, or specialized hardware are required to access and use the diabetes risk prediction system.</a:t>
            </a:r>
          </a:p>
          <a:p>
            <a:pPr lvl="1"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Open-Source Technologies: </a:t>
            </a:r>
            <a:r>
              <a:rPr lang="en-US" sz="1800" dirty="0">
                <a:latin typeface="Times New Roman" panose="02020603050405020304" pitchFamily="18" charset="0"/>
                <a:cs typeface="Times New Roman" panose="02020603050405020304" pitchFamily="18" charset="0"/>
              </a:rPr>
              <a:t>The use of Python, </a:t>
            </a:r>
            <a:r>
              <a:rPr lang="en-US" sz="1800" dirty="0" err="1">
                <a:latin typeface="Times New Roman" panose="02020603050405020304" pitchFamily="18" charset="0"/>
                <a:cs typeface="Times New Roman" panose="02020603050405020304" pitchFamily="18" charset="0"/>
              </a:rPr>
              <a:t>Streamlit</a:t>
            </a:r>
            <a:r>
              <a:rPr lang="en-US" sz="1800" dirty="0">
                <a:latin typeface="Times New Roman" panose="02020603050405020304" pitchFamily="18" charset="0"/>
                <a:cs typeface="Times New Roman" panose="02020603050405020304" pitchFamily="18" charset="0"/>
              </a:rPr>
              <a:t>, Scikit-learn, Pandas, NumPy, and Visual Studio Code all free and open-source makes development cost-effective.</a:t>
            </a:r>
          </a:p>
        </p:txBody>
      </p:sp>
      <p:sp>
        <p:nvSpPr>
          <p:cNvPr id="2" name="Slide Number Placeholder 1">
            <a:extLst>
              <a:ext uri="{FF2B5EF4-FFF2-40B4-BE49-F238E27FC236}">
                <a16:creationId xmlns:a16="http://schemas.microsoft.com/office/drawing/2014/main" id="{6BFB6504-11CD-41B5-B53F-4CD75E9D42E8}"/>
              </a:ext>
            </a:extLst>
          </p:cNvPr>
          <p:cNvSpPr>
            <a:spLocks noGrp="1"/>
          </p:cNvSpPr>
          <p:nvPr>
            <p:ph type="sldNum" sz="quarter" idx="12"/>
          </p:nvPr>
        </p:nvSpPr>
        <p:spPr/>
        <p:txBody>
          <a:bodyPr/>
          <a:lstStyle/>
          <a:p>
            <a:fld id="{96BCAAF5-03BA-4168-AC93-5456AEECE647}" type="slidenum">
              <a:rPr lang="en-US" smtClean="0"/>
              <a:t>11</a:t>
            </a:fld>
            <a:endParaRPr lang="en-US"/>
          </a:p>
        </p:txBody>
      </p:sp>
    </p:spTree>
    <p:extLst>
      <p:ext uri="{BB962C8B-B14F-4D97-AF65-F5344CB8AC3E}">
        <p14:creationId xmlns:p14="http://schemas.microsoft.com/office/powerpoint/2010/main" val="2337763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09600"/>
          </a:xfrm>
        </p:spPr>
        <p:txBody>
          <a:bodyPr/>
          <a:lstStyle/>
          <a:p>
            <a:r>
              <a:rPr lang="en-US" dirty="0">
                <a:latin typeface="Times New Roman" panose="02020603050405020304" pitchFamily="18" charset="0"/>
                <a:cs typeface="Times New Roman" panose="02020603050405020304" pitchFamily="18" charset="0"/>
              </a:rPr>
              <a:t>Schedule</a:t>
            </a:r>
          </a:p>
          <a:p>
            <a:endParaRPr lang="en-US"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1E10FC4-6178-4BA6-B214-1CB683C01A51}"/>
              </a:ext>
            </a:extLst>
          </p:cNvPr>
          <p:cNvSpPr>
            <a:spLocks noGrp="1"/>
          </p:cNvSpPr>
          <p:nvPr>
            <p:ph type="sldNum" sz="quarter" idx="12"/>
          </p:nvPr>
        </p:nvSpPr>
        <p:spPr/>
        <p:txBody>
          <a:bodyPr/>
          <a:lstStyle/>
          <a:p>
            <a:fld id="{96BCAAF5-03BA-4168-AC93-5456AEECE647}" type="slidenum">
              <a:rPr lang="en-US" smtClean="0"/>
              <a:t>12</a:t>
            </a:fld>
            <a:endParaRPr lang="en-US"/>
          </a:p>
        </p:txBody>
      </p:sp>
      <p:pic>
        <p:nvPicPr>
          <p:cNvPr id="5" name="Picture 4">
            <a:extLst>
              <a:ext uri="{FF2B5EF4-FFF2-40B4-BE49-F238E27FC236}">
                <a16:creationId xmlns:a16="http://schemas.microsoft.com/office/drawing/2014/main" id="{71DDB830-94C2-A5E1-8878-8B3198A1CA8A}"/>
              </a:ext>
            </a:extLst>
          </p:cNvPr>
          <p:cNvPicPr>
            <a:picLocks noChangeAspect="1"/>
          </p:cNvPicPr>
          <p:nvPr/>
        </p:nvPicPr>
        <p:blipFill>
          <a:blip r:embed="rId2"/>
          <a:stretch>
            <a:fillRect/>
          </a:stretch>
        </p:blipFill>
        <p:spPr>
          <a:xfrm>
            <a:off x="685800" y="914400"/>
            <a:ext cx="7517157" cy="5423477"/>
          </a:xfrm>
          <a:prstGeom prst="rect">
            <a:avLst/>
          </a:prstGeom>
        </p:spPr>
      </p:pic>
    </p:spTree>
    <p:extLst>
      <p:ext uri="{BB962C8B-B14F-4D97-AF65-F5344CB8AC3E}">
        <p14:creationId xmlns:p14="http://schemas.microsoft.com/office/powerpoint/2010/main" val="3824398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20298"/>
          </a:xfrm>
        </p:spPr>
        <p:txBody>
          <a:bodyPr/>
          <a:lstStyle/>
          <a:p>
            <a:r>
              <a:rPr lang="en-US" dirty="0">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a:xfrm>
            <a:off x="457200" y="972698"/>
            <a:ext cx="8229600" cy="5732902"/>
          </a:xfrm>
        </p:spPr>
        <p:txBody>
          <a:bodyPr>
            <a:noAutofit/>
          </a:bodyPr>
          <a:lstStyle/>
          <a:p>
            <a:pPr marL="457200" lvl="1" indent="0">
              <a:buNone/>
            </a:pPr>
            <a:r>
              <a:rPr lang="en-US" b="1" dirty="0">
                <a:latin typeface="Times New Roman" panose="02020603050405020304" pitchFamily="18" charset="0"/>
                <a:cs typeface="Times New Roman" panose="02020603050405020304" pitchFamily="18" charset="0"/>
              </a:rPr>
              <a:t>Incremental Methodology</a:t>
            </a:r>
          </a:p>
        </p:txBody>
      </p:sp>
      <p:sp>
        <p:nvSpPr>
          <p:cNvPr id="6" name="Slide Number Placeholder 5">
            <a:extLst>
              <a:ext uri="{FF2B5EF4-FFF2-40B4-BE49-F238E27FC236}">
                <a16:creationId xmlns:a16="http://schemas.microsoft.com/office/drawing/2014/main" id="{07C17B3D-7CE3-4C9F-8670-916FA1069AD4}"/>
              </a:ext>
            </a:extLst>
          </p:cNvPr>
          <p:cNvSpPr>
            <a:spLocks noGrp="1"/>
          </p:cNvSpPr>
          <p:nvPr>
            <p:ph type="sldNum" sz="quarter" idx="12"/>
          </p:nvPr>
        </p:nvSpPr>
        <p:spPr/>
        <p:txBody>
          <a:bodyPr/>
          <a:lstStyle/>
          <a:p>
            <a:fld id="{96BCAAF5-03BA-4168-AC93-5456AEECE647}" type="slidenum">
              <a:rPr lang="en-US" smtClean="0"/>
              <a:t>13</a:t>
            </a:fld>
            <a:endParaRPr lang="en-US"/>
          </a:p>
        </p:txBody>
      </p:sp>
      <p:pic>
        <p:nvPicPr>
          <p:cNvPr id="5" name="Picture 4">
            <a:extLst>
              <a:ext uri="{FF2B5EF4-FFF2-40B4-BE49-F238E27FC236}">
                <a16:creationId xmlns:a16="http://schemas.microsoft.com/office/drawing/2014/main" id="{E4F54FBD-8307-FEC4-BCC5-13DB8AC073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9040" y="2133600"/>
            <a:ext cx="6445919" cy="2966085"/>
          </a:xfrm>
          <a:prstGeom prst="rect">
            <a:avLst/>
          </a:prstGeom>
        </p:spPr>
      </p:pic>
    </p:spTree>
    <p:extLst>
      <p:ext uri="{BB962C8B-B14F-4D97-AF65-F5344CB8AC3E}">
        <p14:creationId xmlns:p14="http://schemas.microsoft.com/office/powerpoint/2010/main" val="1549954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latin typeface="Times New Roman" panose="02020603050405020304" pitchFamily="18" charset="0"/>
                <a:cs typeface="Times New Roman" panose="02020603050405020304" pitchFamily="18" charset="0"/>
              </a:rPr>
              <a:t>Literature Review:</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4873" y="988291"/>
            <a:ext cx="8229600" cy="5135563"/>
          </a:xfrm>
        </p:spPr>
        <p:txBody>
          <a:bodyPr>
            <a:noAutofit/>
          </a:bodyPr>
          <a:lstStyle/>
          <a:p>
            <a:pPr algn="just"/>
            <a:r>
              <a:rPr lang="en-US" sz="1800" dirty="0">
                <a:latin typeface="Times New Roman" panose="02020603050405020304" pitchFamily="18" charset="0"/>
                <a:cs typeface="Times New Roman" panose="02020603050405020304" pitchFamily="18" charset="0"/>
              </a:rPr>
              <a:t>F. Pedregosa et al. in "Scikit-learn: Machine learning in Python" present a comprehensive machine learning library that provides efficient implementations of various algorithms including K-Nearest Neighbors (KNN), support vector machines, and random forests. The library includes tools for data preprocessing, model selection, and performance evaluation, making it particularly suitable for healthcare prediction tasks. This work serves as the foundation for implementing the KNN algorithm in the diabetes prediction system.[1]</a:t>
            </a:r>
          </a:p>
          <a:p>
            <a:pPr algn="just"/>
            <a:r>
              <a:rPr lang="en-US" sz="1800" dirty="0">
                <a:latin typeface="Times New Roman" panose="02020603050405020304" pitchFamily="18" charset="0"/>
                <a:cs typeface="Times New Roman" panose="02020603050405020304" pitchFamily="18" charset="0"/>
              </a:rPr>
              <a:t>A. K. M. Masum, F. S. Hossain, and M. A. Hossain in "Comparative analysis of machine learning algorithms for diabetes prediction" evaluate multiple machine learning approaches including KNN, SVM, Random Forest, and Logistic Regression on the PIMA Indians Diabetes Database. Their study demonstrates that ensemble methods achieve superior performance, while KNN provides a practical balance of accuracy and interpretability for medium-sized clinical datasets. [2]</a:t>
            </a:r>
          </a:p>
          <a:p>
            <a:pPr algn="just"/>
            <a:r>
              <a:rPr lang="en-US" sz="1800" dirty="0">
                <a:latin typeface="Times New Roman" panose="02020603050405020304" pitchFamily="18" charset="0"/>
                <a:cs typeface="Times New Roman" panose="02020603050405020304" pitchFamily="18" charset="0"/>
              </a:rPr>
              <a:t>S. S. Ali and N. O. </a:t>
            </a:r>
            <a:r>
              <a:rPr lang="en-US" sz="1800" dirty="0" err="1">
                <a:latin typeface="Times New Roman" panose="02020603050405020304" pitchFamily="18" charset="0"/>
                <a:cs typeface="Times New Roman" panose="02020603050405020304" pitchFamily="18" charset="0"/>
              </a:rPr>
              <a:t>Aboalela</a:t>
            </a:r>
            <a:r>
              <a:rPr lang="en-US" sz="1800" dirty="0">
                <a:latin typeface="Times New Roman" panose="02020603050405020304" pitchFamily="18" charset="0"/>
                <a:cs typeface="Times New Roman" panose="02020603050405020304" pitchFamily="18" charset="0"/>
              </a:rPr>
              <a:t> in "KNN-based predictive modeling for diabetes risk assessment with hyperparameter optimization" propose an optimized KNN model that achieves improved accuracy through systematic tuning of k-values and distance metrics. Their research demonstrates that Manhattan distance (p=1) with k=19 provides optimal performance on diabetes prediction tasks, achieving approximately 80.5% accuracy, which aligns with the results obtained in this project.[3]</a:t>
            </a:r>
          </a:p>
        </p:txBody>
      </p:sp>
      <p:sp>
        <p:nvSpPr>
          <p:cNvPr id="4" name="Slide Number Placeholder 3">
            <a:extLst>
              <a:ext uri="{FF2B5EF4-FFF2-40B4-BE49-F238E27FC236}">
                <a16:creationId xmlns:a16="http://schemas.microsoft.com/office/drawing/2014/main" id="{C08289E1-1032-4D23-8164-CAF69CE72A19}"/>
              </a:ext>
            </a:extLst>
          </p:cNvPr>
          <p:cNvSpPr>
            <a:spLocks noGrp="1"/>
          </p:cNvSpPr>
          <p:nvPr>
            <p:ph type="sldNum" sz="quarter" idx="12"/>
          </p:nvPr>
        </p:nvSpPr>
        <p:spPr/>
        <p:txBody>
          <a:bodyPr/>
          <a:lstStyle/>
          <a:p>
            <a:fld id="{96BCAAF5-03BA-4168-AC93-5456AEECE647}" type="slidenum">
              <a:rPr lang="en-US" smtClean="0"/>
              <a:t>14</a:t>
            </a:fld>
            <a:endParaRPr lang="en-US"/>
          </a:p>
        </p:txBody>
      </p:sp>
    </p:spTree>
    <p:extLst>
      <p:ext uri="{BB962C8B-B14F-4D97-AF65-F5344CB8AC3E}">
        <p14:creationId xmlns:p14="http://schemas.microsoft.com/office/powerpoint/2010/main" val="2631478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F9DE84-0C18-445B-9B43-F3B182804486}"/>
              </a:ext>
            </a:extLst>
          </p:cNvPr>
          <p:cNvSpPr>
            <a:spLocks noGrp="1"/>
          </p:cNvSpPr>
          <p:nvPr>
            <p:ph idx="1"/>
          </p:nvPr>
        </p:nvSpPr>
        <p:spPr>
          <a:xfrm>
            <a:off x="457200" y="457200"/>
            <a:ext cx="8229600" cy="5668963"/>
          </a:xfrm>
        </p:spPr>
        <p:txBody>
          <a:bodyPr>
            <a:normAutofit/>
          </a:bodyPr>
          <a:lstStyle/>
          <a:p>
            <a:pPr algn="just"/>
            <a:r>
              <a:rPr lang="en-US" sz="1800" dirty="0">
                <a:latin typeface="Times New Roman" panose="02020603050405020304" pitchFamily="18" charset="0"/>
                <a:cs typeface="Times New Roman" panose="02020603050405020304" pitchFamily="18" charset="0"/>
              </a:rPr>
              <a:t>G. I. Webb and E. Keogh in "Machine learning applications in clinical decision support systems" review the integration of machine learning models into healthcare workflows. They emphasize the importance of model interpretability, feature selection, and handling of class imbalance in medical datasets. Their findings support the use of simpler, more interpretable models like KNN in clinical settings where transparency is valued. [4]</a:t>
            </a:r>
          </a:p>
          <a:p>
            <a:pPr algn="just"/>
            <a:r>
              <a:rPr lang="en-US" sz="1800" dirty="0">
                <a:latin typeface="Times New Roman" panose="02020603050405020304" pitchFamily="18" charset="0"/>
                <a:cs typeface="Times New Roman" panose="02020603050405020304" pitchFamily="18" charset="0"/>
              </a:rPr>
              <a:t>T. Cover and P. Hart in "Nearest neighbor pattern classification" establish the theoretical foundations of the KNN algorithm, demonstrating its asymptotic convergence properties and decision boundary characteristics. This foundational work provides the mathematical basis for using nearest neighbor approaches in classification tasks, including medical diagnosis applications.[5] </a:t>
            </a:r>
          </a:p>
          <a:p>
            <a:pPr algn="just"/>
            <a:r>
              <a:rPr lang="en-US" sz="1800" dirty="0">
                <a:latin typeface="Times New Roman" panose="02020603050405020304" pitchFamily="18" charset="0"/>
                <a:cs typeface="Times New Roman" panose="02020603050405020304" pitchFamily="18" charset="0"/>
              </a:rPr>
              <a:t>D. W. Aha, D. Kibler, and M. K. Albert in "Instance-based learning algorithms" extend the theoretical understanding of KNN by introducing variations such as distance-weighted voting and feature relevance determination. Their work informs the hyperparameter tuning approach used in this project, particularly the use of distance-weighted voting for improved prediction accuracy.[6]</a:t>
            </a:r>
          </a:p>
        </p:txBody>
      </p:sp>
      <p:sp>
        <p:nvSpPr>
          <p:cNvPr id="2" name="Slide Number Placeholder 1">
            <a:extLst>
              <a:ext uri="{FF2B5EF4-FFF2-40B4-BE49-F238E27FC236}">
                <a16:creationId xmlns:a16="http://schemas.microsoft.com/office/drawing/2014/main" id="{E2F21F79-3C51-4FE0-9362-FB7150F8A9AD}"/>
              </a:ext>
            </a:extLst>
          </p:cNvPr>
          <p:cNvSpPr>
            <a:spLocks noGrp="1"/>
          </p:cNvSpPr>
          <p:nvPr>
            <p:ph type="sldNum" sz="quarter" idx="12"/>
          </p:nvPr>
        </p:nvSpPr>
        <p:spPr/>
        <p:txBody>
          <a:bodyPr/>
          <a:lstStyle/>
          <a:p>
            <a:fld id="{96BCAAF5-03BA-4168-AC93-5456AEECE647}" type="slidenum">
              <a:rPr lang="en-US" smtClean="0"/>
              <a:t>15</a:t>
            </a:fld>
            <a:endParaRPr lang="en-US"/>
          </a:p>
        </p:txBody>
      </p:sp>
    </p:spTree>
    <p:extLst>
      <p:ext uri="{BB962C8B-B14F-4D97-AF65-F5344CB8AC3E}">
        <p14:creationId xmlns:p14="http://schemas.microsoft.com/office/powerpoint/2010/main" val="2732097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System Design</a:t>
            </a:r>
          </a:p>
        </p:txBody>
      </p:sp>
      <p:sp>
        <p:nvSpPr>
          <p:cNvPr id="5" name="TextBox 4"/>
          <p:cNvSpPr txBox="1"/>
          <p:nvPr/>
        </p:nvSpPr>
        <p:spPr>
          <a:xfrm>
            <a:off x="1048397" y="1447800"/>
            <a:ext cx="7638403" cy="400110"/>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System architecture</a:t>
            </a:r>
          </a:p>
        </p:txBody>
      </p:sp>
      <p:sp>
        <p:nvSpPr>
          <p:cNvPr id="3" name="Slide Number Placeholder 2">
            <a:extLst>
              <a:ext uri="{FF2B5EF4-FFF2-40B4-BE49-F238E27FC236}">
                <a16:creationId xmlns:a16="http://schemas.microsoft.com/office/drawing/2014/main" id="{B22EDD41-5B93-4835-B6DB-D4F44D81A097}"/>
              </a:ext>
            </a:extLst>
          </p:cNvPr>
          <p:cNvSpPr>
            <a:spLocks noGrp="1"/>
          </p:cNvSpPr>
          <p:nvPr>
            <p:ph type="sldNum" sz="quarter" idx="12"/>
          </p:nvPr>
        </p:nvSpPr>
        <p:spPr/>
        <p:txBody>
          <a:bodyPr/>
          <a:lstStyle/>
          <a:p>
            <a:fld id="{96BCAAF5-03BA-4168-AC93-5456AEECE647}" type="slidenum">
              <a:rPr lang="en-US" smtClean="0"/>
              <a:t>16</a:t>
            </a:fld>
            <a:endParaRPr lang="en-US"/>
          </a:p>
        </p:txBody>
      </p:sp>
      <p:pic>
        <p:nvPicPr>
          <p:cNvPr id="4" name="Picture 3">
            <a:extLst>
              <a:ext uri="{FF2B5EF4-FFF2-40B4-BE49-F238E27FC236}">
                <a16:creationId xmlns:a16="http://schemas.microsoft.com/office/drawing/2014/main" id="{4F10E385-F67E-9462-3383-6ABD1DB25E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379" y="2209800"/>
            <a:ext cx="7617528" cy="3505200"/>
          </a:xfrm>
          <a:prstGeom prst="rect">
            <a:avLst/>
          </a:prstGeom>
        </p:spPr>
      </p:pic>
    </p:spTree>
    <p:extLst>
      <p:ext uri="{BB962C8B-B14F-4D97-AF65-F5344CB8AC3E}">
        <p14:creationId xmlns:p14="http://schemas.microsoft.com/office/powerpoint/2010/main" val="3195765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dirty="0">
                <a:latin typeface="Times New Roman" panose="02020603050405020304" pitchFamily="18" charset="0"/>
                <a:cs typeface="Times New Roman" panose="02020603050405020304" pitchFamily="18" charset="0"/>
              </a:rPr>
              <a:t>Class diagram</a:t>
            </a:r>
          </a:p>
        </p:txBody>
      </p:sp>
      <p:sp>
        <p:nvSpPr>
          <p:cNvPr id="3" name="Slide Number Placeholder 2">
            <a:extLst>
              <a:ext uri="{FF2B5EF4-FFF2-40B4-BE49-F238E27FC236}">
                <a16:creationId xmlns:a16="http://schemas.microsoft.com/office/drawing/2014/main" id="{C11C1A61-023E-473E-A039-B82F9D493A1E}"/>
              </a:ext>
            </a:extLst>
          </p:cNvPr>
          <p:cNvSpPr>
            <a:spLocks noGrp="1"/>
          </p:cNvSpPr>
          <p:nvPr>
            <p:ph type="sldNum" sz="quarter" idx="12"/>
          </p:nvPr>
        </p:nvSpPr>
        <p:spPr/>
        <p:txBody>
          <a:bodyPr/>
          <a:lstStyle/>
          <a:p>
            <a:fld id="{96BCAAF5-03BA-4168-AC93-5456AEECE647}" type="slidenum">
              <a:rPr lang="en-US" smtClean="0"/>
              <a:t>17</a:t>
            </a:fld>
            <a:endParaRPr lang="en-US"/>
          </a:p>
        </p:txBody>
      </p:sp>
      <p:pic>
        <p:nvPicPr>
          <p:cNvPr id="4" name="Picture 3">
            <a:extLst>
              <a:ext uri="{FF2B5EF4-FFF2-40B4-BE49-F238E27FC236}">
                <a16:creationId xmlns:a16="http://schemas.microsoft.com/office/drawing/2014/main" id="{6DF8C18C-F402-BECA-5C72-A2E1A819D643}"/>
              </a:ext>
            </a:extLst>
          </p:cNvPr>
          <p:cNvPicPr>
            <a:picLocks noChangeAspect="1"/>
          </p:cNvPicPr>
          <p:nvPr/>
        </p:nvPicPr>
        <p:blipFill>
          <a:blip r:embed="rId2"/>
          <a:stretch>
            <a:fillRect/>
          </a:stretch>
        </p:blipFill>
        <p:spPr>
          <a:xfrm>
            <a:off x="1014315" y="1056322"/>
            <a:ext cx="7442432" cy="4963478"/>
          </a:xfrm>
          <a:prstGeom prst="rect">
            <a:avLst/>
          </a:prstGeom>
        </p:spPr>
      </p:pic>
    </p:spTree>
    <p:extLst>
      <p:ext uri="{BB962C8B-B14F-4D97-AF65-F5344CB8AC3E}">
        <p14:creationId xmlns:p14="http://schemas.microsoft.com/office/powerpoint/2010/main" val="4083507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dirty="0">
                <a:latin typeface="Times New Roman" panose="02020603050405020304" pitchFamily="18" charset="0"/>
                <a:cs typeface="Times New Roman" panose="02020603050405020304" pitchFamily="18" charset="0"/>
              </a:rPr>
              <a:t>Sequence diagram </a:t>
            </a:r>
          </a:p>
        </p:txBody>
      </p:sp>
      <p:sp>
        <p:nvSpPr>
          <p:cNvPr id="3" name="Slide Number Placeholder 2">
            <a:extLst>
              <a:ext uri="{FF2B5EF4-FFF2-40B4-BE49-F238E27FC236}">
                <a16:creationId xmlns:a16="http://schemas.microsoft.com/office/drawing/2014/main" id="{D411CAD3-266B-4595-BC52-C27DBB695757}"/>
              </a:ext>
            </a:extLst>
          </p:cNvPr>
          <p:cNvSpPr>
            <a:spLocks noGrp="1"/>
          </p:cNvSpPr>
          <p:nvPr>
            <p:ph type="sldNum" sz="quarter" idx="12"/>
          </p:nvPr>
        </p:nvSpPr>
        <p:spPr/>
        <p:txBody>
          <a:bodyPr/>
          <a:lstStyle/>
          <a:p>
            <a:fld id="{96BCAAF5-03BA-4168-AC93-5456AEECE647}" type="slidenum">
              <a:rPr lang="en-US" smtClean="0"/>
              <a:t>18</a:t>
            </a:fld>
            <a:endParaRPr lang="en-US"/>
          </a:p>
        </p:txBody>
      </p:sp>
      <p:pic>
        <p:nvPicPr>
          <p:cNvPr id="4" name="Picture 3">
            <a:extLst>
              <a:ext uri="{FF2B5EF4-FFF2-40B4-BE49-F238E27FC236}">
                <a16:creationId xmlns:a16="http://schemas.microsoft.com/office/drawing/2014/main" id="{DAEB4570-9653-CF3C-D623-7C550A6C1E04}"/>
              </a:ext>
            </a:extLst>
          </p:cNvPr>
          <p:cNvPicPr>
            <a:picLocks noChangeAspect="1"/>
          </p:cNvPicPr>
          <p:nvPr/>
        </p:nvPicPr>
        <p:blipFill>
          <a:blip r:embed="rId2">
            <a:extLst>
              <a:ext uri="{28A0092B-C50C-407E-A947-70E740481C1C}">
                <a14:useLocalDpi xmlns:a14="http://schemas.microsoft.com/office/drawing/2010/main" val="0"/>
              </a:ext>
            </a:extLst>
          </a:blip>
          <a:srcRect t="3612" b="-894"/>
          <a:stretch>
            <a:fillRect/>
          </a:stretch>
        </p:blipFill>
        <p:spPr>
          <a:xfrm>
            <a:off x="3048000" y="881098"/>
            <a:ext cx="2743200" cy="5602974"/>
          </a:xfrm>
          <a:prstGeom prst="rect">
            <a:avLst/>
          </a:prstGeom>
        </p:spPr>
      </p:pic>
    </p:spTree>
    <p:extLst>
      <p:ext uri="{BB962C8B-B14F-4D97-AF65-F5344CB8AC3E}">
        <p14:creationId xmlns:p14="http://schemas.microsoft.com/office/powerpoint/2010/main" val="938029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B75C6-C618-C04D-E819-3CED41A1A2D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State Diagram</a:t>
            </a:r>
          </a:p>
        </p:txBody>
      </p:sp>
      <p:sp>
        <p:nvSpPr>
          <p:cNvPr id="4" name="Slide Number Placeholder 3">
            <a:extLst>
              <a:ext uri="{FF2B5EF4-FFF2-40B4-BE49-F238E27FC236}">
                <a16:creationId xmlns:a16="http://schemas.microsoft.com/office/drawing/2014/main" id="{6EA89A56-9743-B08B-29B3-BBD9A2975C65}"/>
              </a:ext>
            </a:extLst>
          </p:cNvPr>
          <p:cNvSpPr>
            <a:spLocks noGrp="1"/>
          </p:cNvSpPr>
          <p:nvPr>
            <p:ph type="sldNum" sz="quarter" idx="12"/>
          </p:nvPr>
        </p:nvSpPr>
        <p:spPr/>
        <p:txBody>
          <a:bodyPr/>
          <a:lstStyle/>
          <a:p>
            <a:fld id="{96BCAAF5-03BA-4168-AC93-5456AEECE647}" type="slidenum">
              <a:rPr lang="en-US" smtClean="0"/>
              <a:t>19</a:t>
            </a:fld>
            <a:endParaRPr lang="en-US"/>
          </a:p>
        </p:txBody>
      </p:sp>
      <p:pic>
        <p:nvPicPr>
          <p:cNvPr id="3" name="Picture 2">
            <a:extLst>
              <a:ext uri="{FF2B5EF4-FFF2-40B4-BE49-F238E27FC236}">
                <a16:creationId xmlns:a16="http://schemas.microsoft.com/office/drawing/2014/main" id="{08466899-DF80-0853-DA5A-04D45BCE09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1371600"/>
            <a:ext cx="5638800" cy="4864186"/>
          </a:xfrm>
          <a:prstGeom prst="rect">
            <a:avLst/>
          </a:prstGeom>
        </p:spPr>
      </p:pic>
    </p:spTree>
    <p:extLst>
      <p:ext uri="{BB962C8B-B14F-4D97-AF65-F5344CB8AC3E}">
        <p14:creationId xmlns:p14="http://schemas.microsoft.com/office/powerpoint/2010/main" val="2674342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dirty="0">
                <a:latin typeface="Times New Roman" panose="02020603050405020304" pitchFamily="18" charset="0"/>
                <a:cs typeface="Times New Roman" panose="02020603050405020304" pitchFamily="18" charset="0"/>
              </a:rPr>
              <a:t>Activity diagram</a:t>
            </a:r>
          </a:p>
        </p:txBody>
      </p:sp>
      <p:sp>
        <p:nvSpPr>
          <p:cNvPr id="3" name="Slide Number Placeholder 2">
            <a:extLst>
              <a:ext uri="{FF2B5EF4-FFF2-40B4-BE49-F238E27FC236}">
                <a16:creationId xmlns:a16="http://schemas.microsoft.com/office/drawing/2014/main" id="{0DAF20AD-1EE0-4923-8154-34DF2E706E48}"/>
              </a:ext>
            </a:extLst>
          </p:cNvPr>
          <p:cNvSpPr>
            <a:spLocks noGrp="1"/>
          </p:cNvSpPr>
          <p:nvPr>
            <p:ph type="sldNum" sz="quarter" idx="12"/>
          </p:nvPr>
        </p:nvSpPr>
        <p:spPr/>
        <p:txBody>
          <a:bodyPr/>
          <a:lstStyle/>
          <a:p>
            <a:fld id="{96BCAAF5-03BA-4168-AC93-5456AEECE647}" type="slidenum">
              <a:rPr lang="en-US" smtClean="0"/>
              <a:t>20</a:t>
            </a:fld>
            <a:endParaRPr lang="en-US"/>
          </a:p>
        </p:txBody>
      </p:sp>
      <p:pic>
        <p:nvPicPr>
          <p:cNvPr id="5" name="Picture 4">
            <a:extLst>
              <a:ext uri="{FF2B5EF4-FFF2-40B4-BE49-F238E27FC236}">
                <a16:creationId xmlns:a16="http://schemas.microsoft.com/office/drawing/2014/main" id="{6DF889EA-D72C-422F-70C0-76E4199FD9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1580" y="925830"/>
            <a:ext cx="1887220" cy="5758066"/>
          </a:xfrm>
          <a:prstGeom prst="rect">
            <a:avLst/>
          </a:prstGeom>
        </p:spPr>
      </p:pic>
    </p:spTree>
    <p:extLst>
      <p:ext uri="{BB962C8B-B14F-4D97-AF65-F5344CB8AC3E}">
        <p14:creationId xmlns:p14="http://schemas.microsoft.com/office/powerpoint/2010/main" val="3149694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FE953-3EFF-4161-9FF6-20BAA46AAC9D}"/>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Component Diagram</a:t>
            </a:r>
          </a:p>
        </p:txBody>
      </p:sp>
      <p:sp>
        <p:nvSpPr>
          <p:cNvPr id="5" name="Slide Number Placeholder 4">
            <a:extLst>
              <a:ext uri="{FF2B5EF4-FFF2-40B4-BE49-F238E27FC236}">
                <a16:creationId xmlns:a16="http://schemas.microsoft.com/office/drawing/2014/main" id="{3E349D71-EEF9-4411-AFB7-00591C757F04}"/>
              </a:ext>
            </a:extLst>
          </p:cNvPr>
          <p:cNvSpPr>
            <a:spLocks noGrp="1"/>
          </p:cNvSpPr>
          <p:nvPr>
            <p:ph type="sldNum" sz="quarter" idx="12"/>
          </p:nvPr>
        </p:nvSpPr>
        <p:spPr/>
        <p:txBody>
          <a:bodyPr/>
          <a:lstStyle/>
          <a:p>
            <a:fld id="{96BCAAF5-03BA-4168-AC93-5456AEECE647}" type="slidenum">
              <a:rPr lang="en-US" smtClean="0"/>
              <a:t>21</a:t>
            </a:fld>
            <a:endParaRPr lang="en-US"/>
          </a:p>
        </p:txBody>
      </p:sp>
      <p:pic>
        <p:nvPicPr>
          <p:cNvPr id="4" name="Picture 3">
            <a:extLst>
              <a:ext uri="{FF2B5EF4-FFF2-40B4-BE49-F238E27FC236}">
                <a16:creationId xmlns:a16="http://schemas.microsoft.com/office/drawing/2014/main" id="{889BBBD9-DD7C-3BFF-F78E-C19C94BA8E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821613"/>
            <a:ext cx="8455324" cy="1607387"/>
          </a:xfrm>
          <a:prstGeom prst="rect">
            <a:avLst/>
          </a:prstGeom>
        </p:spPr>
      </p:pic>
    </p:spTree>
    <p:extLst>
      <p:ext uri="{BB962C8B-B14F-4D97-AF65-F5344CB8AC3E}">
        <p14:creationId xmlns:p14="http://schemas.microsoft.com/office/powerpoint/2010/main" val="582516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B4FBD-9EAC-49CF-9EFB-3B6CAB5518C2}"/>
              </a:ext>
            </a:extLst>
          </p:cNvPr>
          <p:cNvSpPr>
            <a:spLocks noGrp="1"/>
          </p:cNvSpPr>
          <p:nvPr>
            <p:ph type="title"/>
          </p:nvPr>
        </p:nvSpPr>
        <p:spPr>
          <a:xfrm>
            <a:off x="561308" y="304800"/>
            <a:ext cx="8229600" cy="1143000"/>
          </a:xfrm>
        </p:spPr>
        <p:txBody>
          <a:bodyPr>
            <a:normAutofit/>
          </a:bodyPr>
          <a:lstStyle/>
          <a:p>
            <a:r>
              <a:rPr lang="en-US" dirty="0">
                <a:latin typeface="Times New Roman" panose="02020603050405020304" pitchFamily="18" charset="0"/>
                <a:cs typeface="Times New Roman" panose="02020603050405020304" pitchFamily="18" charset="0"/>
              </a:rPr>
              <a:t>Deployment Diagram </a:t>
            </a:r>
          </a:p>
        </p:txBody>
      </p:sp>
      <p:sp>
        <p:nvSpPr>
          <p:cNvPr id="5" name="Slide Number Placeholder 4">
            <a:extLst>
              <a:ext uri="{FF2B5EF4-FFF2-40B4-BE49-F238E27FC236}">
                <a16:creationId xmlns:a16="http://schemas.microsoft.com/office/drawing/2014/main" id="{11F161BB-591F-4F03-9666-696A968A8503}"/>
              </a:ext>
            </a:extLst>
          </p:cNvPr>
          <p:cNvSpPr>
            <a:spLocks noGrp="1"/>
          </p:cNvSpPr>
          <p:nvPr>
            <p:ph type="sldNum" sz="quarter" idx="12"/>
          </p:nvPr>
        </p:nvSpPr>
        <p:spPr/>
        <p:txBody>
          <a:bodyPr/>
          <a:lstStyle/>
          <a:p>
            <a:fld id="{96BCAAF5-03BA-4168-AC93-5456AEECE647}" type="slidenum">
              <a:rPr lang="en-US" smtClean="0"/>
              <a:t>22</a:t>
            </a:fld>
            <a:endParaRPr lang="en-US"/>
          </a:p>
        </p:txBody>
      </p:sp>
      <p:pic>
        <p:nvPicPr>
          <p:cNvPr id="4" name="Picture 3">
            <a:extLst>
              <a:ext uri="{FF2B5EF4-FFF2-40B4-BE49-F238E27FC236}">
                <a16:creationId xmlns:a16="http://schemas.microsoft.com/office/drawing/2014/main" id="{DA7EFC76-E1C9-FCE0-9DF2-361641FA16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417" y="1905000"/>
            <a:ext cx="8021383" cy="3232310"/>
          </a:xfrm>
          <a:prstGeom prst="rect">
            <a:avLst/>
          </a:prstGeom>
        </p:spPr>
      </p:pic>
    </p:spTree>
    <p:extLst>
      <p:ext uri="{BB962C8B-B14F-4D97-AF65-F5344CB8AC3E}">
        <p14:creationId xmlns:p14="http://schemas.microsoft.com/office/powerpoint/2010/main" val="4172833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dirty="0">
                <a:latin typeface="Times New Roman" panose="02020603050405020304" pitchFamily="18" charset="0"/>
                <a:cs typeface="Times New Roman" panose="02020603050405020304" pitchFamily="18" charset="0"/>
              </a:rPr>
              <a:t>Tools used</a:t>
            </a:r>
          </a:p>
        </p:txBody>
      </p:sp>
      <p:sp>
        <p:nvSpPr>
          <p:cNvPr id="3" name="Content Placeholder 2"/>
          <p:cNvSpPr>
            <a:spLocks noGrp="1"/>
          </p:cNvSpPr>
          <p:nvPr>
            <p:ph idx="1"/>
          </p:nvPr>
        </p:nvSpPr>
        <p:spPr>
          <a:xfrm>
            <a:off x="342900" y="1143001"/>
            <a:ext cx="2971800" cy="304800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Front-End Tools:</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Streamlit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HTML/CSS</a:t>
            </a:r>
          </a:p>
          <a:p>
            <a:r>
              <a:rPr lang="en-US" sz="2400" dirty="0">
                <a:latin typeface="Times New Roman" panose="02020603050405020304" pitchFamily="18" charset="0"/>
                <a:cs typeface="Times New Roman" panose="02020603050405020304" pitchFamily="18" charset="0"/>
              </a:rPr>
              <a:t>Matplotlib</a:t>
            </a: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50491C0-59B6-4EEE-AA55-E0B45FB0B78B}"/>
              </a:ext>
            </a:extLst>
          </p:cNvPr>
          <p:cNvSpPr>
            <a:spLocks noGrp="1"/>
          </p:cNvSpPr>
          <p:nvPr>
            <p:ph type="sldNum" sz="quarter" idx="12"/>
          </p:nvPr>
        </p:nvSpPr>
        <p:spPr/>
        <p:txBody>
          <a:bodyPr/>
          <a:lstStyle/>
          <a:p>
            <a:fld id="{96BCAAF5-03BA-4168-AC93-5456AEECE647}" type="slidenum">
              <a:rPr lang="en-US" smtClean="0"/>
              <a:t>23</a:t>
            </a:fld>
            <a:endParaRPr lang="en-US"/>
          </a:p>
        </p:txBody>
      </p:sp>
      <p:sp>
        <p:nvSpPr>
          <p:cNvPr id="5" name="Content Placeholder 2">
            <a:extLst>
              <a:ext uri="{FF2B5EF4-FFF2-40B4-BE49-F238E27FC236}">
                <a16:creationId xmlns:a16="http://schemas.microsoft.com/office/drawing/2014/main" id="{422F56C9-5F76-A9FE-2DE9-FDFFA22F8E04}"/>
              </a:ext>
            </a:extLst>
          </p:cNvPr>
          <p:cNvSpPr txBox="1">
            <a:spLocks/>
          </p:cNvSpPr>
          <p:nvPr/>
        </p:nvSpPr>
        <p:spPr>
          <a:xfrm>
            <a:off x="5067300" y="1143000"/>
            <a:ext cx="2971800" cy="18002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latin typeface="Times New Roman" panose="02020603050405020304" pitchFamily="18" charset="0"/>
                <a:cs typeface="Times New Roman" panose="02020603050405020304" pitchFamily="18" charset="0"/>
              </a:rPr>
              <a:t>Backend Tools: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Python</a:t>
            </a:r>
          </a:p>
          <a:p>
            <a:r>
              <a:rPr lang="en-US" sz="2400" dirty="0">
                <a:latin typeface="Times New Roman" panose="02020603050405020304" pitchFamily="18" charset="0"/>
                <a:cs typeface="Times New Roman" panose="02020603050405020304" pitchFamily="18" charset="0"/>
              </a:rPr>
              <a:t>Scikit-learn</a:t>
            </a:r>
          </a:p>
          <a:p>
            <a:r>
              <a:rPr lang="en-US" sz="2400" dirty="0">
                <a:effectLst/>
                <a:latin typeface="Times New Roman" panose="02020603050405020304" pitchFamily="18" charset="0"/>
                <a:cs typeface="Times New Roman" panose="02020603050405020304" pitchFamily="18" charset="0"/>
              </a:rPr>
              <a:t>Pandas</a:t>
            </a:r>
          </a:p>
          <a:p>
            <a:r>
              <a:rPr lang="en-US" sz="2400" dirty="0">
                <a:latin typeface="Times New Roman" panose="02020603050405020304" pitchFamily="18" charset="0"/>
                <a:cs typeface="Times New Roman" panose="02020603050405020304" pitchFamily="18" charset="0"/>
              </a:rPr>
              <a:t>NumPy</a:t>
            </a:r>
            <a:endParaRPr lang="en-US" sz="2400" dirty="0">
              <a:effectLst/>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8F940F57-6119-235E-967C-10CA3A2208E7}"/>
              </a:ext>
            </a:extLst>
          </p:cNvPr>
          <p:cNvSpPr txBox="1">
            <a:spLocks/>
          </p:cNvSpPr>
          <p:nvPr/>
        </p:nvSpPr>
        <p:spPr>
          <a:xfrm>
            <a:off x="5181600" y="3535362"/>
            <a:ext cx="2971800" cy="3048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latin typeface="Times New Roman" panose="02020603050405020304" pitchFamily="18" charset="0"/>
                <a:cs typeface="Times New Roman" panose="02020603050405020304" pitchFamily="18" charset="0"/>
              </a:rPr>
              <a:t>Database: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JSON</a:t>
            </a:r>
          </a:p>
        </p:txBody>
      </p:sp>
    </p:spTree>
    <p:extLst>
      <p:ext uri="{BB962C8B-B14F-4D97-AF65-F5344CB8AC3E}">
        <p14:creationId xmlns:p14="http://schemas.microsoft.com/office/powerpoint/2010/main" val="2868046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4B045-BF8F-178E-6514-A3BB2B1D2F3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1104F86F-B21B-6DBE-37BC-1C58277B988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Login Module</a:t>
            </a:r>
          </a:p>
          <a:p>
            <a:r>
              <a:rPr lang="en-US" dirty="0">
                <a:latin typeface="Times New Roman" panose="02020603050405020304" pitchFamily="18" charset="0"/>
                <a:cs typeface="Times New Roman" panose="02020603050405020304" pitchFamily="18" charset="0"/>
              </a:rPr>
              <a:t>Scan Module</a:t>
            </a:r>
          </a:p>
          <a:p>
            <a:r>
              <a:rPr lang="en-US" dirty="0">
                <a:latin typeface="Times New Roman" panose="02020603050405020304" pitchFamily="18" charset="0"/>
                <a:cs typeface="Times New Roman" panose="02020603050405020304" pitchFamily="18" charset="0"/>
              </a:rPr>
              <a:t>Training Module</a:t>
            </a:r>
          </a:p>
          <a:p>
            <a:r>
              <a:rPr lang="en-US" dirty="0">
                <a:latin typeface="Times New Roman" panose="02020603050405020304" pitchFamily="18" charset="0"/>
                <a:cs typeface="Times New Roman" panose="02020603050405020304" pitchFamily="18" charset="0"/>
              </a:rPr>
              <a:t>Diabetes Prediction Module</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3B97CE0-2E20-F25D-1DD9-959C39E900A8}"/>
              </a:ext>
            </a:extLst>
          </p:cNvPr>
          <p:cNvSpPr>
            <a:spLocks noGrp="1"/>
          </p:cNvSpPr>
          <p:nvPr>
            <p:ph type="sldNum" sz="quarter" idx="12"/>
          </p:nvPr>
        </p:nvSpPr>
        <p:spPr/>
        <p:txBody>
          <a:bodyPr/>
          <a:lstStyle/>
          <a:p>
            <a:fld id="{96BCAAF5-03BA-4168-AC93-5456AEECE647}" type="slidenum">
              <a:rPr lang="en-US" smtClean="0"/>
              <a:t>24</a:t>
            </a:fld>
            <a:endParaRPr lang="en-US"/>
          </a:p>
        </p:txBody>
      </p:sp>
    </p:spTree>
    <p:extLst>
      <p:ext uri="{BB962C8B-B14F-4D97-AF65-F5344CB8AC3E}">
        <p14:creationId xmlns:p14="http://schemas.microsoft.com/office/powerpoint/2010/main" val="1501077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90264-3C17-FB56-85A9-FE3845DC0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FCF37-5754-55CF-58EE-9A7451595DFE}"/>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Login Module</a:t>
            </a:r>
          </a:p>
        </p:txBody>
      </p:sp>
      <p:sp>
        <p:nvSpPr>
          <p:cNvPr id="3" name="Content Placeholder 2">
            <a:extLst>
              <a:ext uri="{FF2B5EF4-FFF2-40B4-BE49-F238E27FC236}">
                <a16:creationId xmlns:a16="http://schemas.microsoft.com/office/drawing/2014/main" id="{43AD504E-4B00-5444-2A2C-0C7126FD0F68}"/>
              </a:ext>
            </a:extLst>
          </p:cNvPr>
          <p:cNvSpPr>
            <a:spLocks noGrp="1"/>
          </p:cNvSpPr>
          <p:nvPr>
            <p:ph idx="1"/>
          </p:nvPr>
        </p:nvSpPr>
        <p:spPr>
          <a:xfrm>
            <a:off x="231996" y="1600994"/>
            <a:ext cx="3891481" cy="4572000"/>
          </a:xfrm>
        </p:spPr>
        <p:txBody>
          <a:bodyPr>
            <a:normAutofit/>
          </a:bodyPr>
          <a:lstStyle/>
          <a:p>
            <a:pPr algn="just"/>
            <a:r>
              <a:rPr lang="en-US" sz="1800" dirty="0">
                <a:latin typeface="Times New Roman" panose="02020603050405020304" pitchFamily="18" charset="0"/>
                <a:cs typeface="Times New Roman" panose="02020603050405020304" pitchFamily="18" charset="0"/>
              </a:rPr>
              <a:t>User enters their registered username and password into the login form on the </a:t>
            </a:r>
            <a:r>
              <a:rPr lang="en-US" sz="1800" dirty="0" err="1">
                <a:latin typeface="Times New Roman" panose="02020603050405020304" pitchFamily="18" charset="0"/>
                <a:cs typeface="Times New Roman" panose="02020603050405020304" pitchFamily="18" charset="0"/>
              </a:rPr>
              <a:t>Streamlit</a:t>
            </a:r>
            <a:r>
              <a:rPr lang="en-US" sz="1800" dirty="0">
                <a:latin typeface="Times New Roman" panose="02020603050405020304" pitchFamily="18" charset="0"/>
                <a:cs typeface="Times New Roman" panose="02020603050405020304" pitchFamily="18" charset="0"/>
              </a:rPr>
              <a:t> web interface.</a:t>
            </a:r>
          </a:p>
          <a:p>
            <a:pPr algn="just"/>
            <a:r>
              <a:rPr lang="en-US" sz="1800" dirty="0">
                <a:latin typeface="Times New Roman" panose="02020603050405020304" pitchFamily="18" charset="0"/>
                <a:cs typeface="Times New Roman" panose="02020603050405020304" pitchFamily="18" charset="0"/>
              </a:rPr>
              <a:t>System checks if the username exists in the </a:t>
            </a:r>
            <a:r>
              <a:rPr lang="en-US" sz="1800" dirty="0" err="1">
                <a:latin typeface="Times New Roman" panose="02020603050405020304" pitchFamily="18" charset="0"/>
                <a:cs typeface="Times New Roman" panose="02020603050405020304" pitchFamily="18" charset="0"/>
              </a:rPr>
              <a:t>users.json</a:t>
            </a:r>
            <a:r>
              <a:rPr lang="en-US" sz="1800" dirty="0">
                <a:latin typeface="Times New Roman" panose="02020603050405020304" pitchFamily="18" charset="0"/>
                <a:cs typeface="Times New Roman" panose="02020603050405020304" pitchFamily="18" charset="0"/>
              </a:rPr>
              <a:t> database and compares the entered password with the stored hashed password using secure hash comparison.</a:t>
            </a:r>
          </a:p>
          <a:p>
            <a:pPr algn="just"/>
            <a:r>
              <a:rPr lang="en-US" sz="1800" dirty="0">
                <a:latin typeface="Times New Roman" panose="02020603050405020304" pitchFamily="18" charset="0"/>
                <a:cs typeface="Times New Roman" panose="02020603050405020304" pitchFamily="18" charset="0"/>
              </a:rPr>
              <a:t>Upon successful authentication, system creates a user session, identifies user role (admin or normal user), and redirects to the dashboard page. If credentials are invalid, an error message is displayed.</a:t>
            </a:r>
          </a:p>
        </p:txBody>
      </p:sp>
      <p:sp>
        <p:nvSpPr>
          <p:cNvPr id="4" name="Slide Number Placeholder 3">
            <a:extLst>
              <a:ext uri="{FF2B5EF4-FFF2-40B4-BE49-F238E27FC236}">
                <a16:creationId xmlns:a16="http://schemas.microsoft.com/office/drawing/2014/main" id="{64CB681C-4AA7-AA39-4610-EB49D61D1DCD}"/>
              </a:ext>
            </a:extLst>
          </p:cNvPr>
          <p:cNvSpPr>
            <a:spLocks noGrp="1"/>
          </p:cNvSpPr>
          <p:nvPr>
            <p:ph type="sldNum" sz="quarter" idx="12"/>
          </p:nvPr>
        </p:nvSpPr>
        <p:spPr/>
        <p:txBody>
          <a:bodyPr/>
          <a:lstStyle/>
          <a:p>
            <a:fld id="{96BCAAF5-03BA-4168-AC93-5456AEECE647}" type="slidenum">
              <a:rPr lang="en-US" smtClean="0"/>
              <a:t>25</a:t>
            </a:fld>
            <a:endParaRPr lang="en-US"/>
          </a:p>
        </p:txBody>
      </p:sp>
      <p:pic>
        <p:nvPicPr>
          <p:cNvPr id="6" name="Picture 5">
            <a:extLst>
              <a:ext uri="{FF2B5EF4-FFF2-40B4-BE49-F238E27FC236}">
                <a16:creationId xmlns:a16="http://schemas.microsoft.com/office/drawing/2014/main" id="{43E19D27-71FE-AC87-78F6-D8A68BDE6B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3004" y="1867694"/>
            <a:ext cx="4639000" cy="4038600"/>
          </a:xfrm>
          <a:prstGeom prst="rect">
            <a:avLst/>
          </a:prstGeom>
        </p:spPr>
      </p:pic>
    </p:spTree>
    <p:extLst>
      <p:ext uri="{BB962C8B-B14F-4D97-AF65-F5344CB8AC3E}">
        <p14:creationId xmlns:p14="http://schemas.microsoft.com/office/powerpoint/2010/main" val="239599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3454D-33FA-E643-B83E-7BD425DC01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914DD-14F1-2A3C-8283-24E8D8D0309C}"/>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Scan Module</a:t>
            </a:r>
          </a:p>
        </p:txBody>
      </p:sp>
      <p:sp>
        <p:nvSpPr>
          <p:cNvPr id="3" name="Content Placeholder 2">
            <a:extLst>
              <a:ext uri="{FF2B5EF4-FFF2-40B4-BE49-F238E27FC236}">
                <a16:creationId xmlns:a16="http://schemas.microsoft.com/office/drawing/2014/main" id="{5CF8CD36-25E9-56E4-2C58-4CC411B81766}"/>
              </a:ext>
            </a:extLst>
          </p:cNvPr>
          <p:cNvSpPr>
            <a:spLocks noGrp="1"/>
          </p:cNvSpPr>
          <p:nvPr>
            <p:ph idx="1"/>
          </p:nvPr>
        </p:nvSpPr>
        <p:spPr>
          <a:xfrm>
            <a:off x="228600" y="1485289"/>
            <a:ext cx="4000500" cy="4572000"/>
          </a:xfrm>
        </p:spPr>
        <p:txBody>
          <a:bodyPr>
            <a:normAutofit/>
          </a:bodyPr>
          <a:lstStyle/>
          <a:p>
            <a:pPr algn="just"/>
            <a:r>
              <a:rPr lang="en-US" sz="1800" dirty="0">
                <a:latin typeface="Times New Roman" panose="02020603050405020304" pitchFamily="18" charset="0"/>
                <a:cs typeface="Times New Roman" panose="02020603050405020304" pitchFamily="18" charset="0"/>
              </a:rPr>
              <a:t>User enters health metrics (glucose, BMI, age, pregnancies, skin thickness) and system auto-calculates BMI from height and weight.</a:t>
            </a:r>
          </a:p>
          <a:p>
            <a:pPr algn="just"/>
            <a:r>
              <a:rPr lang="en-US" sz="1800" dirty="0">
                <a:latin typeface="Times New Roman" panose="02020603050405020304" pitchFamily="18" charset="0"/>
                <a:cs typeface="Times New Roman" panose="02020603050405020304" pitchFamily="18" charset="0"/>
              </a:rPr>
              <a:t>System validates input values, normalizes features using </a:t>
            </a:r>
            <a:r>
              <a:rPr lang="en-US" sz="1800" dirty="0" err="1">
                <a:latin typeface="Times New Roman" panose="02020603050405020304" pitchFamily="18" charset="0"/>
                <a:cs typeface="Times New Roman" panose="02020603050405020304" pitchFamily="18" charset="0"/>
              </a:rPr>
              <a:t>StandardScaler</a:t>
            </a:r>
            <a:r>
              <a:rPr lang="en-US" sz="1800" dirty="0">
                <a:latin typeface="Times New Roman" panose="02020603050405020304" pitchFamily="18" charset="0"/>
                <a:cs typeface="Times New Roman" panose="02020603050405020304" pitchFamily="18" charset="0"/>
              </a:rPr>
              <a:t>, and prepares data for the KNN model.</a:t>
            </a:r>
          </a:p>
          <a:p>
            <a:pPr algn="just"/>
            <a:r>
              <a:rPr lang="en-US" sz="1800" dirty="0">
                <a:latin typeface="Times New Roman" panose="02020603050405020304" pitchFamily="18" charset="0"/>
                <a:cs typeface="Times New Roman" panose="02020603050405020304" pitchFamily="18" charset="0"/>
              </a:rPr>
              <a:t>KNN model (k=19, Manhattan distance) classifies risk, saves results to </a:t>
            </a:r>
            <a:r>
              <a:rPr lang="en-US" sz="1800" dirty="0" err="1">
                <a:latin typeface="Times New Roman" panose="02020603050405020304" pitchFamily="18" charset="0"/>
                <a:cs typeface="Times New Roman" panose="02020603050405020304" pitchFamily="18" charset="0"/>
              </a:rPr>
              <a:t>predictions.json</a:t>
            </a:r>
            <a:r>
              <a:rPr lang="en-US" sz="1800" dirty="0">
                <a:latin typeface="Times New Roman" panose="02020603050405020304" pitchFamily="18" charset="0"/>
                <a:cs typeface="Times New Roman" panose="02020603050405020304" pitchFamily="18" charset="0"/>
              </a:rPr>
              <a:t>, and displays prediction with doctor recommendation.</a:t>
            </a:r>
          </a:p>
        </p:txBody>
      </p:sp>
      <p:sp>
        <p:nvSpPr>
          <p:cNvPr id="4" name="Slide Number Placeholder 3">
            <a:extLst>
              <a:ext uri="{FF2B5EF4-FFF2-40B4-BE49-F238E27FC236}">
                <a16:creationId xmlns:a16="http://schemas.microsoft.com/office/drawing/2014/main" id="{4A2EF0C8-A49B-7FB9-53A8-21EB3FC915E4}"/>
              </a:ext>
            </a:extLst>
          </p:cNvPr>
          <p:cNvSpPr>
            <a:spLocks noGrp="1"/>
          </p:cNvSpPr>
          <p:nvPr>
            <p:ph type="sldNum" sz="quarter" idx="12"/>
          </p:nvPr>
        </p:nvSpPr>
        <p:spPr/>
        <p:txBody>
          <a:bodyPr/>
          <a:lstStyle/>
          <a:p>
            <a:fld id="{96BCAAF5-03BA-4168-AC93-5456AEECE647}" type="slidenum">
              <a:rPr lang="en-US" smtClean="0"/>
              <a:t>26</a:t>
            </a:fld>
            <a:endParaRPr lang="en-US"/>
          </a:p>
        </p:txBody>
      </p:sp>
      <p:pic>
        <p:nvPicPr>
          <p:cNvPr id="6" name="Picture 5">
            <a:extLst>
              <a:ext uri="{FF2B5EF4-FFF2-40B4-BE49-F238E27FC236}">
                <a16:creationId xmlns:a16="http://schemas.microsoft.com/office/drawing/2014/main" id="{165158CE-64B2-7CD8-CE72-89E96C7C297C}"/>
              </a:ext>
            </a:extLst>
          </p:cNvPr>
          <p:cNvPicPr>
            <a:picLocks noChangeAspect="1"/>
          </p:cNvPicPr>
          <p:nvPr/>
        </p:nvPicPr>
        <p:blipFill>
          <a:blip r:embed="rId2"/>
          <a:srcRect r="13636"/>
          <a:stretch>
            <a:fillRect/>
          </a:stretch>
        </p:blipFill>
        <p:spPr>
          <a:xfrm>
            <a:off x="4286250" y="1485289"/>
            <a:ext cx="4533900" cy="4095363"/>
          </a:xfrm>
          <a:prstGeom prst="rect">
            <a:avLst/>
          </a:prstGeom>
        </p:spPr>
      </p:pic>
    </p:spTree>
    <p:extLst>
      <p:ext uri="{BB962C8B-B14F-4D97-AF65-F5344CB8AC3E}">
        <p14:creationId xmlns:p14="http://schemas.microsoft.com/office/powerpoint/2010/main" val="1279375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B8BAC-77DD-8023-2C64-3A72FE85492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Training Module</a:t>
            </a:r>
          </a:p>
        </p:txBody>
      </p:sp>
      <p:sp>
        <p:nvSpPr>
          <p:cNvPr id="4" name="Slide Number Placeholder 3">
            <a:extLst>
              <a:ext uri="{FF2B5EF4-FFF2-40B4-BE49-F238E27FC236}">
                <a16:creationId xmlns:a16="http://schemas.microsoft.com/office/drawing/2014/main" id="{F4CD6734-4FA4-283C-F00C-4AEE1401712C}"/>
              </a:ext>
            </a:extLst>
          </p:cNvPr>
          <p:cNvSpPr>
            <a:spLocks noGrp="1"/>
          </p:cNvSpPr>
          <p:nvPr>
            <p:ph type="sldNum" sz="quarter" idx="12"/>
          </p:nvPr>
        </p:nvSpPr>
        <p:spPr/>
        <p:txBody>
          <a:bodyPr/>
          <a:lstStyle/>
          <a:p>
            <a:fld id="{96BCAAF5-03BA-4168-AC93-5456AEECE647}" type="slidenum">
              <a:rPr lang="en-US" smtClean="0"/>
              <a:t>27</a:t>
            </a:fld>
            <a:endParaRPr lang="en-US"/>
          </a:p>
        </p:txBody>
      </p:sp>
      <p:sp>
        <p:nvSpPr>
          <p:cNvPr id="12" name="Content Placeholder 11">
            <a:extLst>
              <a:ext uri="{FF2B5EF4-FFF2-40B4-BE49-F238E27FC236}">
                <a16:creationId xmlns:a16="http://schemas.microsoft.com/office/drawing/2014/main" id="{A30DBE15-AD54-F4EF-2FFC-2591E3887BA5}"/>
              </a:ext>
            </a:extLst>
          </p:cNvPr>
          <p:cNvSpPr>
            <a:spLocks noGrp="1"/>
          </p:cNvSpPr>
          <p:nvPr>
            <p:ph idx="1"/>
          </p:nvPr>
        </p:nvSpPr>
        <p:spPr>
          <a:xfrm>
            <a:off x="228600" y="1676400"/>
            <a:ext cx="4419600" cy="4114800"/>
          </a:xfrm>
        </p:spPr>
        <p:txBody>
          <a:bodyPr>
            <a:normAutofit/>
          </a:bodyPr>
          <a:lstStyle/>
          <a:p>
            <a:pPr algn="just"/>
            <a:r>
              <a:rPr lang="en-US" sz="1800" dirty="0">
                <a:latin typeface="Times New Roman" panose="02020603050405020304" pitchFamily="18" charset="0"/>
                <a:cs typeface="Times New Roman" panose="02020603050405020304" pitchFamily="18" charset="0"/>
              </a:rPr>
              <a:t>Calculates Manhattan distance between patient health metrics and training data to find k=19 nearest neighbors.</a:t>
            </a:r>
          </a:p>
          <a:p>
            <a:pPr algn="just"/>
            <a:r>
              <a:rPr lang="en-US" sz="1800" dirty="0">
                <a:latin typeface="Times New Roman" panose="02020603050405020304" pitchFamily="18" charset="0"/>
                <a:cs typeface="Times New Roman" panose="02020603050405020304" pitchFamily="18" charset="0"/>
              </a:rPr>
              <a:t>Classifies patient as High Risk or Low Risk based on the most common class among 19 neighbors.</a:t>
            </a:r>
          </a:p>
          <a:p>
            <a:pPr algn="just"/>
            <a:r>
              <a:rPr lang="en-US" sz="1800" dirty="0">
                <a:latin typeface="Times New Roman" panose="02020603050405020304" pitchFamily="18" charset="0"/>
                <a:cs typeface="Times New Roman" panose="02020603050405020304" pitchFamily="18" charset="0"/>
              </a:rPr>
              <a:t>Saves trained model as </a:t>
            </a:r>
            <a:r>
              <a:rPr lang="en-US" sz="1800" dirty="0" err="1">
                <a:latin typeface="Times New Roman" panose="02020603050405020304" pitchFamily="18" charset="0"/>
                <a:cs typeface="Times New Roman" panose="02020603050405020304" pitchFamily="18" charset="0"/>
              </a:rPr>
              <a:t>knn_model.pkl</a:t>
            </a:r>
            <a:r>
              <a:rPr lang="en-US" sz="1800" dirty="0">
                <a:latin typeface="Times New Roman" panose="02020603050405020304" pitchFamily="18" charset="0"/>
                <a:cs typeface="Times New Roman" panose="02020603050405020304" pitchFamily="18" charset="0"/>
              </a:rPr>
              <a:t> for fast loading without retraining.</a:t>
            </a:r>
          </a:p>
          <a:p>
            <a:pPr algn="just"/>
            <a:endParaRPr lang="en-US" sz="18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69F6A1CB-0F0D-4F45-918C-6C83A57C8724}"/>
              </a:ext>
            </a:extLst>
          </p:cNvPr>
          <p:cNvPicPr>
            <a:picLocks noChangeAspect="1"/>
          </p:cNvPicPr>
          <p:nvPr/>
        </p:nvPicPr>
        <p:blipFill>
          <a:blip r:embed="rId2">
            <a:extLst>
              <a:ext uri="{28A0092B-C50C-407E-A947-70E740481C1C}">
                <a14:useLocalDpi xmlns:a14="http://schemas.microsoft.com/office/drawing/2010/main" val="0"/>
              </a:ext>
            </a:extLst>
          </a:blip>
          <a:srcRect r="7594"/>
          <a:stretch>
            <a:fillRect/>
          </a:stretch>
        </p:blipFill>
        <p:spPr>
          <a:xfrm>
            <a:off x="4648200" y="1619250"/>
            <a:ext cx="4267200" cy="3641834"/>
          </a:xfrm>
          <a:prstGeom prst="rect">
            <a:avLst/>
          </a:prstGeom>
        </p:spPr>
      </p:pic>
    </p:spTree>
    <p:extLst>
      <p:ext uri="{BB962C8B-B14F-4D97-AF65-F5344CB8AC3E}">
        <p14:creationId xmlns:p14="http://schemas.microsoft.com/office/powerpoint/2010/main" val="2928754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6C0BE-D834-F488-BA4A-7A66058AB16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Diabetes Prediction Module</a:t>
            </a:r>
          </a:p>
        </p:txBody>
      </p:sp>
      <p:sp>
        <p:nvSpPr>
          <p:cNvPr id="3" name="Content Placeholder 2">
            <a:extLst>
              <a:ext uri="{FF2B5EF4-FFF2-40B4-BE49-F238E27FC236}">
                <a16:creationId xmlns:a16="http://schemas.microsoft.com/office/drawing/2014/main" id="{0AB76651-1248-7889-873A-577832D1E831}"/>
              </a:ext>
            </a:extLst>
          </p:cNvPr>
          <p:cNvSpPr>
            <a:spLocks noGrp="1"/>
          </p:cNvSpPr>
          <p:nvPr>
            <p:ph idx="1"/>
          </p:nvPr>
        </p:nvSpPr>
        <p:spPr>
          <a:xfrm>
            <a:off x="304800" y="1600200"/>
            <a:ext cx="4343400" cy="4419600"/>
          </a:xfrm>
        </p:spPr>
        <p:txBody>
          <a:bodyPr>
            <a:normAutofit lnSpcReduction="10000"/>
          </a:bodyPr>
          <a:lstStyle/>
          <a:p>
            <a:pPr algn="just"/>
            <a:r>
              <a:rPr lang="en-US" sz="1800" dirty="0">
                <a:latin typeface="Times New Roman" panose="02020603050405020304" pitchFamily="18" charset="0"/>
                <a:cs typeface="Times New Roman" panose="02020603050405020304" pitchFamily="18" charset="0"/>
              </a:rPr>
              <a:t>Loads patient health metrics (glucose, BMI, age, pregnancies, skin thickness), handles missing values, and normalizes features using </a:t>
            </a:r>
            <a:r>
              <a:rPr lang="en-US" sz="1800" dirty="0" err="1">
                <a:latin typeface="Times New Roman" panose="02020603050405020304" pitchFamily="18" charset="0"/>
                <a:cs typeface="Times New Roman" panose="02020603050405020304" pitchFamily="18" charset="0"/>
              </a:rPr>
              <a:t>StandardScaler</a:t>
            </a:r>
            <a:r>
              <a:rPr lang="en-US" sz="1800" dirty="0">
                <a:latin typeface="Times New Roman" panose="02020603050405020304" pitchFamily="18" charset="0"/>
                <a:cs typeface="Times New Roman" panose="02020603050405020304" pitchFamily="18" charset="0"/>
              </a:rPr>
              <a:t> for accurate distance calculation.</a:t>
            </a:r>
          </a:p>
          <a:p>
            <a:pPr algn="just"/>
            <a:r>
              <a:rPr lang="en-US" sz="1800" dirty="0">
                <a:latin typeface="Times New Roman" panose="02020603050405020304" pitchFamily="18" charset="0"/>
                <a:cs typeface="Times New Roman" panose="02020603050405020304" pitchFamily="18" charset="0"/>
              </a:rPr>
              <a:t>Uses trained KNN model with k=19 neighbors and Manhattan distance to classify patients as High Risk or Low Risk, generating probability scores for each class.</a:t>
            </a:r>
          </a:p>
          <a:p>
            <a:pPr algn="just"/>
            <a:r>
              <a:rPr lang="en-US" sz="1800" dirty="0">
                <a:latin typeface="Times New Roman" panose="02020603050405020304" pitchFamily="18" charset="0"/>
                <a:cs typeface="Times New Roman" panose="02020603050405020304" pitchFamily="18" charset="0"/>
              </a:rPr>
              <a:t>Saves prediction results (user ID, timestamp, features, risk class, probabilities) to </a:t>
            </a:r>
            <a:r>
              <a:rPr lang="en-US" sz="1800" dirty="0" err="1">
                <a:latin typeface="Times New Roman" panose="02020603050405020304" pitchFamily="18" charset="0"/>
                <a:cs typeface="Times New Roman" panose="02020603050405020304" pitchFamily="18" charset="0"/>
              </a:rPr>
              <a:t>predictions.json</a:t>
            </a:r>
            <a:r>
              <a:rPr lang="en-US" sz="1800" dirty="0">
                <a:latin typeface="Times New Roman" panose="02020603050405020304" pitchFamily="18" charset="0"/>
                <a:cs typeface="Times New Roman" panose="02020603050405020304" pitchFamily="18" charset="0"/>
              </a:rPr>
              <a:t> and provides doctor recommendation based on risk percentage (&gt;70% specialist, 50-70% general physician, &lt;50% none).</a:t>
            </a:r>
          </a:p>
          <a:p>
            <a:endParaRPr lang="en-US" dirty="0"/>
          </a:p>
        </p:txBody>
      </p:sp>
      <p:sp>
        <p:nvSpPr>
          <p:cNvPr id="4" name="Slide Number Placeholder 3">
            <a:extLst>
              <a:ext uri="{FF2B5EF4-FFF2-40B4-BE49-F238E27FC236}">
                <a16:creationId xmlns:a16="http://schemas.microsoft.com/office/drawing/2014/main" id="{E85B6FDE-7AAB-9FAE-2988-F93E55D1BE7E}"/>
              </a:ext>
            </a:extLst>
          </p:cNvPr>
          <p:cNvSpPr>
            <a:spLocks noGrp="1"/>
          </p:cNvSpPr>
          <p:nvPr>
            <p:ph type="sldNum" sz="quarter" idx="12"/>
          </p:nvPr>
        </p:nvSpPr>
        <p:spPr/>
        <p:txBody>
          <a:bodyPr/>
          <a:lstStyle/>
          <a:p>
            <a:fld id="{96BCAAF5-03BA-4168-AC93-5456AEECE647}" type="slidenum">
              <a:rPr lang="en-US" smtClean="0"/>
              <a:t>28</a:t>
            </a:fld>
            <a:endParaRPr lang="en-US"/>
          </a:p>
        </p:txBody>
      </p:sp>
      <p:pic>
        <p:nvPicPr>
          <p:cNvPr id="5" name="Picture 4">
            <a:extLst>
              <a:ext uri="{FF2B5EF4-FFF2-40B4-BE49-F238E27FC236}">
                <a16:creationId xmlns:a16="http://schemas.microsoft.com/office/drawing/2014/main" id="{8D92FB49-A1AB-3809-B1E3-0D8B6DE224D7}"/>
              </a:ext>
            </a:extLst>
          </p:cNvPr>
          <p:cNvPicPr>
            <a:picLocks noChangeAspect="1"/>
          </p:cNvPicPr>
          <p:nvPr/>
        </p:nvPicPr>
        <p:blipFill>
          <a:blip r:embed="rId2">
            <a:extLst>
              <a:ext uri="{28A0092B-C50C-407E-A947-70E740481C1C}">
                <a14:useLocalDpi xmlns:a14="http://schemas.microsoft.com/office/drawing/2010/main" val="0"/>
              </a:ext>
            </a:extLst>
          </a:blip>
          <a:srcRect r="39887"/>
          <a:stretch>
            <a:fillRect/>
          </a:stretch>
        </p:blipFill>
        <p:spPr>
          <a:xfrm>
            <a:off x="4967922" y="1432229"/>
            <a:ext cx="3170555" cy="4394835"/>
          </a:xfrm>
          <a:prstGeom prst="rect">
            <a:avLst/>
          </a:prstGeom>
        </p:spPr>
      </p:pic>
    </p:spTree>
    <p:extLst>
      <p:ext uri="{BB962C8B-B14F-4D97-AF65-F5344CB8AC3E}">
        <p14:creationId xmlns:p14="http://schemas.microsoft.com/office/powerpoint/2010/main" val="303580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98A6FCC-C038-126C-8985-D48D13855FEE}"/>
              </a:ext>
            </a:extLst>
          </p:cNvPr>
          <p:cNvSpPr>
            <a:spLocks noGrp="1"/>
          </p:cNvSpPr>
          <p:nvPr>
            <p:ph type="ctrTitle"/>
          </p:nvPr>
        </p:nvSpPr>
        <p:spPr>
          <a:xfrm>
            <a:off x="685800" y="304800"/>
            <a:ext cx="7772400" cy="1470025"/>
          </a:xfrm>
        </p:spPr>
        <p:txBody>
          <a:bodyPr/>
          <a:lstStyle/>
          <a:p>
            <a:r>
              <a:rPr lang="en-US" dirty="0">
                <a:latin typeface="Times New Roman" panose="02020603050405020304" pitchFamily="18" charset="0"/>
                <a:cs typeface="Times New Roman" panose="02020603050405020304" pitchFamily="18" charset="0"/>
              </a:rPr>
              <a:t>Testing</a:t>
            </a:r>
          </a:p>
        </p:txBody>
      </p:sp>
      <p:sp>
        <p:nvSpPr>
          <p:cNvPr id="6" name="Subtitle 5">
            <a:extLst>
              <a:ext uri="{FF2B5EF4-FFF2-40B4-BE49-F238E27FC236}">
                <a16:creationId xmlns:a16="http://schemas.microsoft.com/office/drawing/2014/main" id="{D158969F-778D-CAF9-87FC-E2CE62C05326}"/>
              </a:ext>
            </a:extLst>
          </p:cNvPr>
          <p:cNvSpPr>
            <a:spLocks noGrp="1"/>
          </p:cNvSpPr>
          <p:nvPr>
            <p:ph type="subTitle" idx="1"/>
          </p:nvPr>
        </p:nvSpPr>
        <p:spPr>
          <a:xfrm>
            <a:off x="838200" y="1474787"/>
            <a:ext cx="6400800" cy="1752600"/>
          </a:xfrm>
        </p:spPr>
        <p:txBody>
          <a:bodyPr>
            <a:noAutofit/>
          </a:bodyPr>
          <a:lstStyle/>
          <a:p>
            <a:pPr marL="457200" indent="-457200" algn="l">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Unit Testing</a:t>
            </a:r>
          </a:p>
          <a:p>
            <a:pPr marL="457200" indent="-457200" algn="l">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User Interface</a:t>
            </a:r>
          </a:p>
          <a:p>
            <a:pPr marL="457200" indent="-457200" algn="l">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Admin Interface</a:t>
            </a:r>
          </a:p>
        </p:txBody>
      </p:sp>
      <p:sp>
        <p:nvSpPr>
          <p:cNvPr id="4" name="Slide Number Placeholder 3">
            <a:extLst>
              <a:ext uri="{FF2B5EF4-FFF2-40B4-BE49-F238E27FC236}">
                <a16:creationId xmlns:a16="http://schemas.microsoft.com/office/drawing/2014/main" id="{9223D87D-85AE-7B90-3976-AE8E0AE9DFB5}"/>
              </a:ext>
            </a:extLst>
          </p:cNvPr>
          <p:cNvSpPr>
            <a:spLocks noGrp="1"/>
          </p:cNvSpPr>
          <p:nvPr>
            <p:ph type="sldNum" sz="quarter" idx="12"/>
          </p:nvPr>
        </p:nvSpPr>
        <p:spPr/>
        <p:txBody>
          <a:bodyPr/>
          <a:lstStyle/>
          <a:p>
            <a:fld id="{96BCAAF5-03BA-4168-AC93-5456AEECE647}" type="slidenum">
              <a:rPr lang="en-US" smtClean="0"/>
              <a:t>29</a:t>
            </a:fld>
            <a:endParaRPr lang="en-US"/>
          </a:p>
        </p:txBody>
      </p:sp>
    </p:spTree>
    <p:extLst>
      <p:ext uri="{BB962C8B-B14F-4D97-AF65-F5344CB8AC3E}">
        <p14:creationId xmlns:p14="http://schemas.microsoft.com/office/powerpoint/2010/main" val="1305003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776CE-0BE5-E915-7CE8-5525BC2BC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DE9C6-0130-FE13-2B24-5148F4B6C0D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Unit Testing</a:t>
            </a:r>
          </a:p>
        </p:txBody>
      </p:sp>
      <p:sp>
        <p:nvSpPr>
          <p:cNvPr id="4" name="Slide Number Placeholder 3">
            <a:extLst>
              <a:ext uri="{FF2B5EF4-FFF2-40B4-BE49-F238E27FC236}">
                <a16:creationId xmlns:a16="http://schemas.microsoft.com/office/drawing/2014/main" id="{785A5E2D-FC8A-BE99-3E09-C80456F9818C}"/>
              </a:ext>
            </a:extLst>
          </p:cNvPr>
          <p:cNvSpPr>
            <a:spLocks noGrp="1"/>
          </p:cNvSpPr>
          <p:nvPr>
            <p:ph type="sldNum" sz="quarter" idx="12"/>
          </p:nvPr>
        </p:nvSpPr>
        <p:spPr/>
        <p:txBody>
          <a:bodyPr/>
          <a:lstStyle/>
          <a:p>
            <a:fld id="{96BCAAF5-03BA-4168-AC93-5456AEECE647}" type="slidenum">
              <a:rPr lang="en-US" smtClean="0"/>
              <a:t>30</a:t>
            </a:fld>
            <a:endParaRPr lang="en-US"/>
          </a:p>
        </p:txBody>
      </p:sp>
      <p:graphicFrame>
        <p:nvGraphicFramePr>
          <p:cNvPr id="7" name="Table 6">
            <a:extLst>
              <a:ext uri="{FF2B5EF4-FFF2-40B4-BE49-F238E27FC236}">
                <a16:creationId xmlns:a16="http://schemas.microsoft.com/office/drawing/2014/main" id="{D8CB07B7-28CE-47EA-B1CF-200849E6A10E}"/>
              </a:ext>
            </a:extLst>
          </p:cNvPr>
          <p:cNvGraphicFramePr>
            <a:graphicFrameLocks noGrp="1"/>
          </p:cNvGraphicFramePr>
          <p:nvPr>
            <p:extLst>
              <p:ext uri="{D42A27DB-BD31-4B8C-83A1-F6EECF244321}">
                <p14:modId xmlns:p14="http://schemas.microsoft.com/office/powerpoint/2010/main" val="49343343"/>
              </p:ext>
            </p:extLst>
          </p:nvPr>
        </p:nvGraphicFramePr>
        <p:xfrm>
          <a:off x="1684337" y="1432878"/>
          <a:ext cx="5775325" cy="4401185"/>
        </p:xfrm>
        <a:graphic>
          <a:graphicData uri="http://schemas.openxmlformats.org/drawingml/2006/table">
            <a:tbl>
              <a:tblPr firstRow="1" firstCol="1" bandRow="1">
                <a:tableStyleId>{5C22544A-7EE6-4342-B048-85BDC9FD1C3A}</a:tableStyleId>
              </a:tblPr>
              <a:tblGrid>
                <a:gridCol w="421005">
                  <a:extLst>
                    <a:ext uri="{9D8B030D-6E8A-4147-A177-3AD203B41FA5}">
                      <a16:colId xmlns:a16="http://schemas.microsoft.com/office/drawing/2014/main" val="596636119"/>
                    </a:ext>
                  </a:extLst>
                </a:gridCol>
                <a:gridCol w="1311275">
                  <a:extLst>
                    <a:ext uri="{9D8B030D-6E8A-4147-A177-3AD203B41FA5}">
                      <a16:colId xmlns:a16="http://schemas.microsoft.com/office/drawing/2014/main" val="1733111118"/>
                    </a:ext>
                  </a:extLst>
                </a:gridCol>
                <a:gridCol w="1167765">
                  <a:extLst>
                    <a:ext uri="{9D8B030D-6E8A-4147-A177-3AD203B41FA5}">
                      <a16:colId xmlns:a16="http://schemas.microsoft.com/office/drawing/2014/main" val="294573955"/>
                    </a:ext>
                  </a:extLst>
                </a:gridCol>
                <a:gridCol w="1161415">
                  <a:extLst>
                    <a:ext uri="{9D8B030D-6E8A-4147-A177-3AD203B41FA5}">
                      <a16:colId xmlns:a16="http://schemas.microsoft.com/office/drawing/2014/main" val="1354843092"/>
                    </a:ext>
                  </a:extLst>
                </a:gridCol>
                <a:gridCol w="1161415">
                  <a:extLst>
                    <a:ext uri="{9D8B030D-6E8A-4147-A177-3AD203B41FA5}">
                      <a16:colId xmlns:a16="http://schemas.microsoft.com/office/drawing/2014/main" val="3972152379"/>
                    </a:ext>
                  </a:extLst>
                </a:gridCol>
                <a:gridCol w="552450">
                  <a:extLst>
                    <a:ext uri="{9D8B030D-6E8A-4147-A177-3AD203B41FA5}">
                      <a16:colId xmlns:a16="http://schemas.microsoft.com/office/drawing/2014/main" val="540134573"/>
                    </a:ext>
                  </a:extLst>
                </a:gridCol>
              </a:tblGrid>
              <a:tr h="193675">
                <a:tc>
                  <a:txBody>
                    <a:bodyPr/>
                    <a:lstStyle/>
                    <a:p>
                      <a:pPr marL="0" marR="0" algn="just">
                        <a:lnSpc>
                          <a:spcPct val="150000"/>
                        </a:lnSpc>
                        <a:spcAft>
                          <a:spcPts val="800"/>
                        </a:spcAft>
                        <a:buNone/>
                      </a:pPr>
                      <a:r>
                        <a:rPr lang="en-US" sz="1200">
                          <a:effectLst/>
                          <a:latin typeface="Times New Roman" panose="02020603050405020304" pitchFamily="18" charset="0"/>
                          <a:cs typeface="Times New Roman" panose="02020603050405020304" pitchFamily="18" charset="0"/>
                        </a:rPr>
                        <a:t>Sno.</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50000"/>
                        </a:lnSpc>
                        <a:spcAft>
                          <a:spcPts val="800"/>
                        </a:spcAft>
                        <a:buNone/>
                      </a:pPr>
                      <a:r>
                        <a:rPr lang="en-US" sz="1200">
                          <a:effectLst/>
                          <a:latin typeface="Times New Roman" panose="02020603050405020304" pitchFamily="18" charset="0"/>
                          <a:cs typeface="Times New Roman" panose="02020603050405020304" pitchFamily="18" charset="0"/>
                        </a:rPr>
                        <a:t>Action</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50000"/>
                        </a:lnSpc>
                        <a:spcAft>
                          <a:spcPts val="800"/>
                        </a:spcAft>
                        <a:buNone/>
                      </a:pPr>
                      <a:r>
                        <a:rPr lang="en-US" sz="1200">
                          <a:effectLst/>
                          <a:latin typeface="Times New Roman" panose="02020603050405020304" pitchFamily="18" charset="0"/>
                          <a:cs typeface="Times New Roman" panose="02020603050405020304" pitchFamily="18" charset="0"/>
                        </a:rPr>
                        <a:t>Input Text</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50000"/>
                        </a:lnSpc>
                        <a:spcAft>
                          <a:spcPts val="800"/>
                        </a:spcAft>
                        <a:buNone/>
                      </a:pPr>
                      <a:r>
                        <a:rPr lang="en-US" sz="1200">
                          <a:effectLst/>
                          <a:latin typeface="Times New Roman" panose="02020603050405020304" pitchFamily="18" charset="0"/>
                          <a:cs typeface="Times New Roman" panose="02020603050405020304" pitchFamily="18" charset="0"/>
                        </a:rPr>
                        <a:t>Expected Outcome</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50000"/>
                        </a:lnSpc>
                        <a:spcAft>
                          <a:spcPts val="800"/>
                        </a:spcAft>
                        <a:buNone/>
                      </a:pPr>
                      <a:r>
                        <a:rPr lang="en-US" sz="1200">
                          <a:effectLst/>
                          <a:latin typeface="Times New Roman" panose="02020603050405020304" pitchFamily="18" charset="0"/>
                          <a:cs typeface="Times New Roman" panose="02020603050405020304" pitchFamily="18" charset="0"/>
                        </a:rPr>
                        <a:t>Actual Outcome</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50000"/>
                        </a:lnSpc>
                        <a:spcAft>
                          <a:spcPts val="800"/>
                        </a:spcAft>
                        <a:buNone/>
                      </a:pPr>
                      <a:r>
                        <a:rPr lang="en-US" sz="1200">
                          <a:effectLst/>
                          <a:latin typeface="Times New Roman" panose="02020603050405020304" pitchFamily="18" charset="0"/>
                          <a:cs typeface="Times New Roman" panose="02020603050405020304" pitchFamily="18" charset="0"/>
                        </a:rPr>
                        <a:t>Test Result</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03922121"/>
                  </a:ext>
                </a:extLst>
              </a:tr>
              <a:tr h="753745">
                <a:tc>
                  <a:txBody>
                    <a:bodyPr/>
                    <a:lstStyle/>
                    <a:p>
                      <a:pPr marL="0" marR="0" algn="just">
                        <a:lnSpc>
                          <a:spcPct val="150000"/>
                        </a:lnSpc>
                        <a:spcAft>
                          <a:spcPts val="800"/>
                        </a:spcAft>
                        <a:buNone/>
                      </a:pPr>
                      <a:r>
                        <a:rPr lang="en-US" sz="1200">
                          <a:effectLst/>
                          <a:latin typeface="Times New Roman" panose="02020603050405020304" pitchFamily="18" charset="0"/>
                          <a:cs typeface="Times New Roman" panose="02020603050405020304" pitchFamily="18" charset="0"/>
                        </a:rPr>
                        <a:t>1</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dirty="0">
                          <a:effectLst/>
                          <a:latin typeface="Times New Roman" panose="02020603050405020304" pitchFamily="18" charset="0"/>
                          <a:cs typeface="Times New Roman" panose="02020603050405020304" pitchFamily="18" charset="0"/>
                        </a:rPr>
                        <a:t>Test missing value handling</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dirty="0">
                          <a:effectLst/>
                          <a:latin typeface="Times New Roman" panose="02020603050405020304" pitchFamily="18" charset="0"/>
                          <a:cs typeface="Times New Roman" panose="02020603050405020304" pitchFamily="18" charset="0"/>
                        </a:rPr>
                        <a:t>Patient record with missing glucose value</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dirty="0">
                          <a:effectLst/>
                          <a:latin typeface="Times New Roman" panose="02020603050405020304" pitchFamily="18" charset="0"/>
                          <a:cs typeface="Times New Roman" panose="02020603050405020304" pitchFamily="18" charset="0"/>
                        </a:rPr>
                        <a:t>Missing value imputed with median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Missing value imputed with median</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Pass</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73739474"/>
                  </a:ext>
                </a:extLst>
              </a:tr>
              <a:tr h="725170">
                <a:tc>
                  <a:txBody>
                    <a:bodyPr/>
                    <a:lstStyle/>
                    <a:p>
                      <a:pPr marL="0" marR="0" algn="just">
                        <a:lnSpc>
                          <a:spcPct val="150000"/>
                        </a:lnSpc>
                        <a:spcAft>
                          <a:spcPts val="800"/>
                        </a:spcAft>
                        <a:buNone/>
                      </a:pPr>
                      <a:r>
                        <a:rPr lang="en-US" sz="1200">
                          <a:effectLst/>
                          <a:latin typeface="Times New Roman" panose="02020603050405020304" pitchFamily="18" charset="0"/>
                          <a:cs typeface="Times New Roman" panose="02020603050405020304" pitchFamily="18" charset="0"/>
                        </a:rPr>
                        <a:t>2</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Test BMI calculation</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dirty="0">
                          <a:effectLst/>
                          <a:latin typeface="Times New Roman" panose="02020603050405020304" pitchFamily="18" charset="0"/>
                          <a:cs typeface="Times New Roman" panose="02020603050405020304" pitchFamily="18" charset="0"/>
                        </a:rPr>
                        <a:t>Height:1.75m, Weight: 70kg</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BMI: 22.86</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BMI: 22.86</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Pass</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20970542"/>
                  </a:ext>
                </a:extLst>
              </a:tr>
              <a:tr h="553720">
                <a:tc>
                  <a:txBody>
                    <a:bodyPr/>
                    <a:lstStyle/>
                    <a:p>
                      <a:pPr marL="0" marR="0" algn="just">
                        <a:lnSpc>
                          <a:spcPct val="150000"/>
                        </a:lnSpc>
                        <a:spcAft>
                          <a:spcPts val="800"/>
                        </a:spcAft>
                        <a:buNone/>
                      </a:pPr>
                      <a:r>
                        <a:rPr lang="en-US" sz="1200">
                          <a:effectLst/>
                          <a:latin typeface="Times New Roman" panose="02020603050405020304" pitchFamily="18" charset="0"/>
                          <a:cs typeface="Times New Roman" panose="02020603050405020304" pitchFamily="18" charset="0"/>
                        </a:rPr>
                        <a:t>3</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Test recommendation &gt;70% risk</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Risk: 85%</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Dr. Rolisha Sthapit</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dirty="0">
                          <a:effectLst/>
                          <a:latin typeface="Times New Roman" panose="02020603050405020304" pitchFamily="18" charset="0"/>
                          <a:cs typeface="Times New Roman" panose="02020603050405020304" pitchFamily="18" charset="0"/>
                        </a:rPr>
                        <a:t>Dr. Rolisha </a:t>
                      </a:r>
                      <a:r>
                        <a:rPr lang="en-US" sz="1200" dirty="0" err="1">
                          <a:effectLst/>
                          <a:latin typeface="Times New Roman" panose="02020603050405020304" pitchFamily="18" charset="0"/>
                          <a:cs typeface="Times New Roman" panose="02020603050405020304" pitchFamily="18" charset="0"/>
                        </a:rPr>
                        <a:t>Sthapit</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Pass</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29278296"/>
                  </a:ext>
                </a:extLst>
              </a:tr>
              <a:tr h="553720">
                <a:tc>
                  <a:txBody>
                    <a:bodyPr/>
                    <a:lstStyle/>
                    <a:p>
                      <a:pPr marL="0" marR="0" algn="just">
                        <a:lnSpc>
                          <a:spcPct val="150000"/>
                        </a:lnSpc>
                        <a:spcAft>
                          <a:spcPts val="800"/>
                        </a:spcAft>
                        <a:buNone/>
                      </a:pPr>
                      <a:r>
                        <a:rPr lang="en-US" sz="1200">
                          <a:effectLst/>
                          <a:latin typeface="Times New Roman" panose="02020603050405020304" pitchFamily="18" charset="0"/>
                          <a:cs typeface="Times New Roman" panose="02020603050405020304" pitchFamily="18" charset="0"/>
                        </a:rPr>
                        <a:t>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Test recommendation 50-70% risk</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Risk: 65%</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General Physician</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Dr. Rayan Dangol</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Pass</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28499305"/>
                  </a:ext>
                </a:extLst>
              </a:tr>
              <a:tr h="553720">
                <a:tc>
                  <a:txBody>
                    <a:bodyPr/>
                    <a:lstStyle/>
                    <a:p>
                      <a:pPr marL="0" marR="0" algn="just">
                        <a:lnSpc>
                          <a:spcPct val="150000"/>
                        </a:lnSpc>
                        <a:spcAft>
                          <a:spcPts val="800"/>
                        </a:spcAft>
                        <a:buNone/>
                      </a:pPr>
                      <a:r>
                        <a:rPr lang="en-US" sz="1200">
                          <a:effectLst/>
                          <a:latin typeface="Times New Roman" panose="02020603050405020304" pitchFamily="18" charset="0"/>
                          <a:cs typeface="Times New Roman" panose="02020603050405020304" pitchFamily="18" charset="0"/>
                        </a:rPr>
                        <a:t>5</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Test recommendation &lt;50% risk</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Risk: 30%</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No recommendation</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No recommendation</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50000"/>
                        </a:lnSpc>
                        <a:spcAft>
                          <a:spcPts val="800"/>
                        </a:spcAft>
                        <a:buNone/>
                      </a:pPr>
                      <a:r>
                        <a:rPr lang="en-US" sz="1200" dirty="0">
                          <a:effectLst/>
                          <a:latin typeface="Times New Roman" panose="02020603050405020304" pitchFamily="18" charset="0"/>
                          <a:cs typeface="Times New Roman" panose="02020603050405020304" pitchFamily="18" charset="0"/>
                        </a:rPr>
                        <a:t>Pass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38146819"/>
                  </a:ext>
                </a:extLst>
              </a:tr>
            </a:tbl>
          </a:graphicData>
        </a:graphic>
      </p:graphicFrame>
    </p:spTree>
    <p:extLst>
      <p:ext uri="{BB962C8B-B14F-4D97-AF65-F5344CB8AC3E}">
        <p14:creationId xmlns:p14="http://schemas.microsoft.com/office/powerpoint/2010/main" val="827730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7898A-3F9F-9E47-50AF-E75E0BCB1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BED33-DE62-4FC8-3A47-EDCB9D8DC42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User Interface</a:t>
            </a:r>
          </a:p>
        </p:txBody>
      </p:sp>
      <p:sp>
        <p:nvSpPr>
          <p:cNvPr id="4" name="Slide Number Placeholder 3">
            <a:extLst>
              <a:ext uri="{FF2B5EF4-FFF2-40B4-BE49-F238E27FC236}">
                <a16:creationId xmlns:a16="http://schemas.microsoft.com/office/drawing/2014/main" id="{89CD236E-37CA-A16F-7C3F-B5EEB16AC21B}"/>
              </a:ext>
            </a:extLst>
          </p:cNvPr>
          <p:cNvSpPr>
            <a:spLocks noGrp="1"/>
          </p:cNvSpPr>
          <p:nvPr>
            <p:ph type="sldNum" sz="quarter" idx="12"/>
          </p:nvPr>
        </p:nvSpPr>
        <p:spPr/>
        <p:txBody>
          <a:bodyPr/>
          <a:lstStyle/>
          <a:p>
            <a:fld id="{96BCAAF5-03BA-4168-AC93-5456AEECE647}" type="slidenum">
              <a:rPr lang="en-US" smtClean="0"/>
              <a:t>31</a:t>
            </a:fld>
            <a:endParaRPr lang="en-US"/>
          </a:p>
        </p:txBody>
      </p:sp>
      <p:graphicFrame>
        <p:nvGraphicFramePr>
          <p:cNvPr id="3" name="Table 2">
            <a:extLst>
              <a:ext uri="{FF2B5EF4-FFF2-40B4-BE49-F238E27FC236}">
                <a16:creationId xmlns:a16="http://schemas.microsoft.com/office/drawing/2014/main" id="{5AB9B7C8-9FAE-AE16-1BE3-DBB0154A95E1}"/>
              </a:ext>
            </a:extLst>
          </p:cNvPr>
          <p:cNvGraphicFramePr>
            <a:graphicFrameLocks noGrp="1"/>
          </p:cNvGraphicFramePr>
          <p:nvPr>
            <p:extLst>
              <p:ext uri="{D42A27DB-BD31-4B8C-83A1-F6EECF244321}">
                <p14:modId xmlns:p14="http://schemas.microsoft.com/office/powerpoint/2010/main" val="1652375870"/>
              </p:ext>
            </p:extLst>
          </p:nvPr>
        </p:nvGraphicFramePr>
        <p:xfrm>
          <a:off x="2105025" y="1219200"/>
          <a:ext cx="4933950" cy="5241926"/>
        </p:xfrm>
        <a:graphic>
          <a:graphicData uri="http://schemas.openxmlformats.org/drawingml/2006/table">
            <a:tbl>
              <a:tblPr firstRow="1" firstCol="1" bandRow="1">
                <a:tableStyleId>{5C22544A-7EE6-4342-B048-85BDC9FD1C3A}</a:tableStyleId>
              </a:tblPr>
              <a:tblGrid>
                <a:gridCol w="369390">
                  <a:extLst>
                    <a:ext uri="{9D8B030D-6E8A-4147-A177-3AD203B41FA5}">
                      <a16:colId xmlns:a16="http://schemas.microsoft.com/office/drawing/2014/main" val="3711773032"/>
                    </a:ext>
                  </a:extLst>
                </a:gridCol>
                <a:gridCol w="735861">
                  <a:extLst>
                    <a:ext uri="{9D8B030D-6E8A-4147-A177-3AD203B41FA5}">
                      <a16:colId xmlns:a16="http://schemas.microsoft.com/office/drawing/2014/main" val="3474842765"/>
                    </a:ext>
                  </a:extLst>
                </a:gridCol>
                <a:gridCol w="1045146">
                  <a:extLst>
                    <a:ext uri="{9D8B030D-6E8A-4147-A177-3AD203B41FA5}">
                      <a16:colId xmlns:a16="http://schemas.microsoft.com/office/drawing/2014/main" val="2710314135"/>
                    </a:ext>
                  </a:extLst>
                </a:gridCol>
                <a:gridCol w="1334591">
                  <a:extLst>
                    <a:ext uri="{9D8B030D-6E8A-4147-A177-3AD203B41FA5}">
                      <a16:colId xmlns:a16="http://schemas.microsoft.com/office/drawing/2014/main" val="2596376202"/>
                    </a:ext>
                  </a:extLst>
                </a:gridCol>
                <a:gridCol w="973367">
                  <a:extLst>
                    <a:ext uri="{9D8B030D-6E8A-4147-A177-3AD203B41FA5}">
                      <a16:colId xmlns:a16="http://schemas.microsoft.com/office/drawing/2014/main" val="387701367"/>
                    </a:ext>
                  </a:extLst>
                </a:gridCol>
                <a:gridCol w="475595">
                  <a:extLst>
                    <a:ext uri="{9D8B030D-6E8A-4147-A177-3AD203B41FA5}">
                      <a16:colId xmlns:a16="http://schemas.microsoft.com/office/drawing/2014/main" val="1237353264"/>
                    </a:ext>
                  </a:extLst>
                </a:gridCol>
              </a:tblGrid>
              <a:tr h="365880">
                <a:tc>
                  <a:txBody>
                    <a:bodyPr/>
                    <a:lstStyle/>
                    <a:p>
                      <a:pPr marL="0" marR="0" algn="just">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Sno.</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Action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Input Text / Action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Expected Outcome</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Actual Outcome</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Test Result</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extLst>
                  <a:ext uri="{0D108BD9-81ED-4DB2-BD59-A6C34878D82A}">
                    <a16:rowId xmlns:a16="http://schemas.microsoft.com/office/drawing/2014/main" val="1074650821"/>
                  </a:ext>
                </a:extLst>
              </a:tr>
              <a:tr h="558788">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1</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Test homepage layout and elements</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Navigate to the system’s homepage</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Home page is displayed with input field</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Home page displayed with input field</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Pass</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extLst>
                  <a:ext uri="{0D108BD9-81ED-4DB2-BD59-A6C34878D82A}">
                    <a16:rowId xmlns:a16="http://schemas.microsoft.com/office/drawing/2014/main" val="435329334"/>
                  </a:ext>
                </a:extLst>
              </a:tr>
              <a:tr h="751694">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2</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Successful Login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1. Click Login</a:t>
                      </a:r>
                      <a:br>
                        <a:rPr lang="en-US" sz="800" dirty="0">
                          <a:effectLst/>
                          <a:latin typeface="Times New Roman" panose="02020603050405020304" pitchFamily="18" charset="0"/>
                          <a:cs typeface="Times New Roman" panose="02020603050405020304" pitchFamily="18" charset="0"/>
                        </a:rPr>
                      </a:br>
                      <a:r>
                        <a:rPr lang="en-US" sz="800" dirty="0">
                          <a:effectLst/>
                          <a:latin typeface="Times New Roman" panose="02020603050405020304" pitchFamily="18" charset="0"/>
                          <a:cs typeface="Times New Roman" panose="02020603050405020304" pitchFamily="18" charset="0"/>
                        </a:rPr>
                        <a:t>2. Enter invalid credentials</a:t>
                      </a:r>
                      <a:br>
                        <a:rPr lang="en-US" sz="800" dirty="0">
                          <a:effectLst/>
                          <a:latin typeface="Times New Roman" panose="02020603050405020304" pitchFamily="18" charset="0"/>
                          <a:cs typeface="Times New Roman" panose="02020603050405020304" pitchFamily="18" charset="0"/>
                        </a:rPr>
                      </a:br>
                      <a:r>
                        <a:rPr lang="en-US" sz="800" dirty="0">
                          <a:effectLst/>
                          <a:latin typeface="Times New Roman" panose="02020603050405020304" pitchFamily="18" charset="0"/>
                          <a:cs typeface="Times New Roman" panose="02020603050405020304" pitchFamily="18" charset="0"/>
                        </a:rPr>
                        <a:t>3. Click Submit</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User redirected to dashboard with welcome message</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User redirected to dashboard with welcome message</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Pass</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extLst>
                  <a:ext uri="{0D108BD9-81ED-4DB2-BD59-A6C34878D82A}">
                    <a16:rowId xmlns:a16="http://schemas.microsoft.com/office/drawing/2014/main" val="835881980"/>
                  </a:ext>
                </a:extLst>
              </a:tr>
              <a:tr h="751694">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3</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Invalid Login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1. Enter invalid credentials</a:t>
                      </a:r>
                      <a:br>
                        <a:rPr lang="en-US" sz="800">
                          <a:effectLst/>
                          <a:latin typeface="Times New Roman" panose="02020603050405020304" pitchFamily="18" charset="0"/>
                          <a:cs typeface="Times New Roman" panose="02020603050405020304" pitchFamily="18" charset="0"/>
                        </a:rPr>
                      </a:br>
                      <a:r>
                        <a:rPr lang="en-US" sz="800">
                          <a:effectLst/>
                          <a:latin typeface="Times New Roman" panose="02020603050405020304" pitchFamily="18" charset="0"/>
                          <a:cs typeface="Times New Roman" panose="02020603050405020304" pitchFamily="18" charset="0"/>
                        </a:rPr>
                        <a:t>2. Click "Login" button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Error message displayed: "Invalid username or password"</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Error message displayed: "Invalid username or password"</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Pass</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extLst>
                  <a:ext uri="{0D108BD9-81ED-4DB2-BD59-A6C34878D82A}">
                    <a16:rowId xmlns:a16="http://schemas.microsoft.com/office/drawing/2014/main" val="711425885"/>
                  </a:ext>
                </a:extLst>
              </a:tr>
              <a:tr h="1137508">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Gender Selection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1. On Prediction page</a:t>
                      </a:r>
                      <a:br>
                        <a:rPr lang="en-US" sz="800">
                          <a:effectLst/>
                          <a:latin typeface="Times New Roman" panose="02020603050405020304" pitchFamily="18" charset="0"/>
                          <a:cs typeface="Times New Roman" panose="02020603050405020304" pitchFamily="18" charset="0"/>
                        </a:rPr>
                      </a:br>
                      <a:r>
                        <a:rPr lang="en-US" sz="800">
                          <a:effectLst/>
                          <a:latin typeface="Times New Roman" panose="02020603050405020304" pitchFamily="18" charset="0"/>
                          <a:cs typeface="Times New Roman" panose="02020603050405020304" pitchFamily="18" charset="0"/>
                        </a:rPr>
                        <a:t>2. Select gender radio buttons</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Male/Female options work correctly; Pregnancy field appears/disappears appropriately</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Male/Female options work correctly; Pregnancy field appears/disappears appropriately</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Pass</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extLst>
                  <a:ext uri="{0D108BD9-81ED-4DB2-BD59-A6C34878D82A}">
                    <a16:rowId xmlns:a16="http://schemas.microsoft.com/office/drawing/2014/main" val="822745977"/>
                  </a:ext>
                </a:extLst>
              </a:tr>
              <a:tr h="558788">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BMI Auto-calculation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1. Enter Height (feet) and Weight (kg)</a:t>
                      </a:r>
                      <a:br>
                        <a:rPr lang="en-US" sz="800">
                          <a:effectLst/>
                          <a:latin typeface="Times New Roman" panose="02020603050405020304" pitchFamily="18" charset="0"/>
                          <a:cs typeface="Times New Roman" panose="02020603050405020304" pitchFamily="18" charset="0"/>
                        </a:rPr>
                      </a:br>
                      <a:r>
                        <a:rPr lang="en-US" sz="800">
                          <a:effectLst/>
                          <a:latin typeface="Times New Roman" panose="02020603050405020304" pitchFamily="18" charset="0"/>
                          <a:cs typeface="Times New Roman" panose="02020603050405020304" pitchFamily="18" charset="0"/>
                        </a:rPr>
                        <a:t>2. Observe BMI field</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BMI automatically calculates and displays</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BMI automatically calculates and displays</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Pass</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extLst>
                  <a:ext uri="{0D108BD9-81ED-4DB2-BD59-A6C34878D82A}">
                    <a16:rowId xmlns:a16="http://schemas.microsoft.com/office/drawing/2014/main" val="2658297822"/>
                  </a:ext>
                </a:extLst>
              </a:tr>
              <a:tr h="751694">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6</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Prediction Button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1. Fill all required fields</a:t>
                      </a:r>
                      <a:br>
                        <a:rPr lang="en-US" sz="800">
                          <a:effectLst/>
                          <a:latin typeface="Times New Roman" panose="02020603050405020304" pitchFamily="18" charset="0"/>
                          <a:cs typeface="Times New Roman" panose="02020603050405020304" pitchFamily="18" charset="0"/>
                        </a:rPr>
                      </a:br>
                      <a:r>
                        <a:rPr lang="en-US" sz="800">
                          <a:effectLst/>
                          <a:latin typeface="Times New Roman" panose="02020603050405020304" pitchFamily="18" charset="0"/>
                          <a:cs typeface="Times New Roman" panose="02020603050405020304" pitchFamily="18" charset="0"/>
                        </a:rPr>
                        <a:t>2. Click "Predict" button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Prediction results displayed with risk classification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Prediction results displayed with risk classification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Pass</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extLst>
                  <a:ext uri="{0D108BD9-81ED-4DB2-BD59-A6C34878D82A}">
                    <a16:rowId xmlns:a16="http://schemas.microsoft.com/office/drawing/2014/main" val="2103164606"/>
                  </a:ext>
                </a:extLst>
              </a:tr>
              <a:tr h="365880">
                <a:tc>
                  <a:txBody>
                    <a:bodyPr/>
                    <a:lstStyle/>
                    <a:p>
                      <a:pPr marL="0" marR="0" algn="just">
                        <a:lnSpc>
                          <a:spcPct val="150000"/>
                        </a:lnSpc>
                        <a:spcAft>
                          <a:spcPts val="800"/>
                        </a:spcAft>
                        <a:buNone/>
                      </a:pPr>
                      <a:r>
                        <a:rPr lang="en-US" sz="800">
                          <a:effectLst/>
                          <a:latin typeface="Times New Roman" panose="02020603050405020304" pitchFamily="18" charset="0"/>
                          <a:cs typeface="Times New Roman" panose="02020603050405020304" pitchFamily="18" charset="0"/>
                        </a:rPr>
                        <a:t>7</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Logout / Exit</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Click “Logout” or close session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User logged out and session ended</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a:effectLst/>
                          <a:latin typeface="Times New Roman" panose="02020603050405020304" pitchFamily="18" charset="0"/>
                          <a:cs typeface="Times New Roman" panose="02020603050405020304" pitchFamily="18" charset="0"/>
                        </a:rPr>
                        <a:t>User logged out successfully</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tc>
                  <a:txBody>
                    <a:bodyPr/>
                    <a:lstStyle/>
                    <a:p>
                      <a:pPr marL="0" marR="0" algn="l">
                        <a:lnSpc>
                          <a:spcPct val="150000"/>
                        </a:lnSpc>
                        <a:spcAft>
                          <a:spcPts val="800"/>
                        </a:spcAft>
                        <a:buNone/>
                      </a:pPr>
                      <a:r>
                        <a:rPr lang="en-US" sz="800" dirty="0">
                          <a:effectLst/>
                          <a:latin typeface="Times New Roman" panose="02020603050405020304" pitchFamily="18" charset="0"/>
                          <a:cs typeface="Times New Roman" panose="02020603050405020304" pitchFamily="18" charset="0"/>
                        </a:rPr>
                        <a:t>Pass</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415" marR="30415" marT="0" marB="0" anchor="ctr"/>
                </a:tc>
                <a:extLst>
                  <a:ext uri="{0D108BD9-81ED-4DB2-BD59-A6C34878D82A}">
                    <a16:rowId xmlns:a16="http://schemas.microsoft.com/office/drawing/2014/main" val="1269846537"/>
                  </a:ext>
                </a:extLst>
              </a:tr>
            </a:tbl>
          </a:graphicData>
        </a:graphic>
      </p:graphicFrame>
    </p:spTree>
    <p:extLst>
      <p:ext uri="{BB962C8B-B14F-4D97-AF65-F5344CB8AC3E}">
        <p14:creationId xmlns:p14="http://schemas.microsoft.com/office/powerpoint/2010/main" val="17513842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62AAD-720E-52D2-9B71-1922E0039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14D2F-0C21-04E6-6D0B-24FAD5CC8E1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Admin Interface</a:t>
            </a:r>
          </a:p>
        </p:txBody>
      </p:sp>
      <p:sp>
        <p:nvSpPr>
          <p:cNvPr id="4" name="Slide Number Placeholder 3">
            <a:extLst>
              <a:ext uri="{FF2B5EF4-FFF2-40B4-BE49-F238E27FC236}">
                <a16:creationId xmlns:a16="http://schemas.microsoft.com/office/drawing/2014/main" id="{3C99A7F1-4C3E-9FEC-4B6B-48B284A553F9}"/>
              </a:ext>
            </a:extLst>
          </p:cNvPr>
          <p:cNvSpPr>
            <a:spLocks noGrp="1"/>
          </p:cNvSpPr>
          <p:nvPr>
            <p:ph type="sldNum" sz="quarter" idx="12"/>
          </p:nvPr>
        </p:nvSpPr>
        <p:spPr/>
        <p:txBody>
          <a:bodyPr/>
          <a:lstStyle/>
          <a:p>
            <a:fld id="{96BCAAF5-03BA-4168-AC93-5456AEECE647}" type="slidenum">
              <a:rPr lang="en-US" smtClean="0"/>
              <a:t>32</a:t>
            </a:fld>
            <a:endParaRPr lang="en-US"/>
          </a:p>
        </p:txBody>
      </p:sp>
      <p:graphicFrame>
        <p:nvGraphicFramePr>
          <p:cNvPr id="3" name="Table 2">
            <a:extLst>
              <a:ext uri="{FF2B5EF4-FFF2-40B4-BE49-F238E27FC236}">
                <a16:creationId xmlns:a16="http://schemas.microsoft.com/office/drawing/2014/main" id="{A579D36B-3AB3-2E38-7508-64A39C4FFE40}"/>
              </a:ext>
            </a:extLst>
          </p:cNvPr>
          <p:cNvGraphicFramePr>
            <a:graphicFrameLocks noGrp="1"/>
          </p:cNvGraphicFramePr>
          <p:nvPr>
            <p:extLst>
              <p:ext uri="{D42A27DB-BD31-4B8C-83A1-F6EECF244321}">
                <p14:modId xmlns:p14="http://schemas.microsoft.com/office/powerpoint/2010/main" val="2015376610"/>
              </p:ext>
            </p:extLst>
          </p:nvPr>
        </p:nvGraphicFramePr>
        <p:xfrm>
          <a:off x="2438400" y="1295400"/>
          <a:ext cx="4876800" cy="5334000"/>
        </p:xfrm>
        <a:graphic>
          <a:graphicData uri="http://schemas.openxmlformats.org/drawingml/2006/table">
            <a:tbl>
              <a:tblPr firstRow="1" firstCol="1" bandRow="1">
                <a:tableStyleId>{5C22544A-7EE6-4342-B048-85BDC9FD1C3A}</a:tableStyleId>
              </a:tblPr>
              <a:tblGrid>
                <a:gridCol w="344005">
                  <a:extLst>
                    <a:ext uri="{9D8B030D-6E8A-4147-A177-3AD203B41FA5}">
                      <a16:colId xmlns:a16="http://schemas.microsoft.com/office/drawing/2014/main" val="243264788"/>
                    </a:ext>
                  </a:extLst>
                </a:gridCol>
                <a:gridCol w="884664">
                  <a:extLst>
                    <a:ext uri="{9D8B030D-6E8A-4147-A177-3AD203B41FA5}">
                      <a16:colId xmlns:a16="http://schemas.microsoft.com/office/drawing/2014/main" val="4244504918"/>
                    </a:ext>
                  </a:extLst>
                </a:gridCol>
                <a:gridCol w="1026312">
                  <a:extLst>
                    <a:ext uri="{9D8B030D-6E8A-4147-A177-3AD203B41FA5}">
                      <a16:colId xmlns:a16="http://schemas.microsoft.com/office/drawing/2014/main" val="262286827"/>
                    </a:ext>
                  </a:extLst>
                </a:gridCol>
                <a:gridCol w="1105180">
                  <a:extLst>
                    <a:ext uri="{9D8B030D-6E8A-4147-A177-3AD203B41FA5}">
                      <a16:colId xmlns:a16="http://schemas.microsoft.com/office/drawing/2014/main" val="332661695"/>
                    </a:ext>
                  </a:extLst>
                </a:gridCol>
                <a:gridCol w="1065227">
                  <a:extLst>
                    <a:ext uri="{9D8B030D-6E8A-4147-A177-3AD203B41FA5}">
                      <a16:colId xmlns:a16="http://schemas.microsoft.com/office/drawing/2014/main" val="1955802359"/>
                    </a:ext>
                  </a:extLst>
                </a:gridCol>
                <a:gridCol w="451412">
                  <a:extLst>
                    <a:ext uri="{9D8B030D-6E8A-4147-A177-3AD203B41FA5}">
                      <a16:colId xmlns:a16="http://schemas.microsoft.com/office/drawing/2014/main" val="2507598079"/>
                    </a:ext>
                  </a:extLst>
                </a:gridCol>
              </a:tblGrid>
              <a:tr h="369828">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Sno.</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Action</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Input Text / Action</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Expected Outcome</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Actual Outcome</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Test Result</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extLst>
                  <a:ext uri="{0D108BD9-81ED-4DB2-BD59-A6C34878D82A}">
                    <a16:rowId xmlns:a16="http://schemas.microsoft.com/office/drawing/2014/main" val="3030588202"/>
                  </a:ext>
                </a:extLst>
              </a:tr>
              <a:tr h="633938">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1</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dirty="0">
                          <a:effectLst/>
                          <a:latin typeface="Times New Roman" panose="02020603050405020304" pitchFamily="18" charset="0"/>
                          <a:cs typeface="Times New Roman" panose="02020603050405020304" pitchFamily="18" charset="0"/>
                        </a:rPr>
                        <a:t>Admin Panel Access</a:t>
                      </a:r>
                      <a:endParaRPr lang="en-US" sz="7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1. Login as admin</a:t>
                      </a:r>
                      <a:br>
                        <a:rPr lang="en-US" sz="700">
                          <a:effectLst/>
                          <a:latin typeface="Times New Roman" panose="02020603050405020304" pitchFamily="18" charset="0"/>
                          <a:cs typeface="Times New Roman" panose="02020603050405020304" pitchFamily="18" charset="0"/>
                        </a:rPr>
                      </a:br>
                      <a:r>
                        <a:rPr lang="en-US" sz="700">
                          <a:effectLst/>
                          <a:latin typeface="Times New Roman" panose="02020603050405020304" pitchFamily="18" charset="0"/>
                          <a:cs typeface="Times New Roman" panose="02020603050405020304" pitchFamily="18" charset="0"/>
                        </a:rPr>
                        <a:t>2. Check navigation menu</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Admin Panel option appears in menu</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Admin Panel option appears in menu</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Pass</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extLst>
                  <a:ext uri="{0D108BD9-81ED-4DB2-BD59-A6C34878D82A}">
                    <a16:rowId xmlns:a16="http://schemas.microsoft.com/office/drawing/2014/main" val="155685466"/>
                  </a:ext>
                </a:extLst>
              </a:tr>
              <a:tr h="760503">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2</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Doctor Management UI</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dirty="0">
                          <a:effectLst/>
                          <a:latin typeface="Times New Roman" panose="02020603050405020304" pitchFamily="18" charset="0"/>
                          <a:cs typeface="Times New Roman" panose="02020603050405020304" pitchFamily="18" charset="0"/>
                        </a:rPr>
                        <a:t>1. Access Admin Panel</a:t>
                      </a:r>
                      <a:br>
                        <a:rPr lang="en-US" sz="700" dirty="0">
                          <a:effectLst/>
                          <a:latin typeface="Times New Roman" panose="02020603050405020304" pitchFamily="18" charset="0"/>
                          <a:cs typeface="Times New Roman" panose="02020603050405020304" pitchFamily="18" charset="0"/>
                        </a:rPr>
                      </a:br>
                      <a:r>
                        <a:rPr lang="en-US" sz="700" dirty="0">
                          <a:effectLst/>
                          <a:latin typeface="Times New Roman" panose="02020603050405020304" pitchFamily="18" charset="0"/>
                          <a:cs typeface="Times New Roman" panose="02020603050405020304" pitchFamily="18" charset="0"/>
                        </a:rPr>
                        <a:t>2. Click "Manage Doctors"</a:t>
                      </a:r>
                      <a:endParaRPr lang="en-US" sz="7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Doctor list displays with edit/delete options</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Doctor list displays with edit/delete options</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Pass</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extLst>
                  <a:ext uri="{0D108BD9-81ED-4DB2-BD59-A6C34878D82A}">
                    <a16:rowId xmlns:a16="http://schemas.microsoft.com/office/drawing/2014/main" val="1030858541"/>
                  </a:ext>
                </a:extLst>
              </a:tr>
              <a:tr h="1541846">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3</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Admin Panel Tabs Display</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dirty="0">
                          <a:effectLst/>
                          <a:latin typeface="Times New Roman" panose="02020603050405020304" pitchFamily="18" charset="0"/>
                          <a:cs typeface="Times New Roman" panose="02020603050405020304" pitchFamily="18" charset="0"/>
                        </a:rPr>
                        <a:t>1. Access Admin Panel</a:t>
                      </a:r>
                      <a:br>
                        <a:rPr lang="en-US" sz="700" dirty="0">
                          <a:effectLst/>
                          <a:latin typeface="Times New Roman" panose="02020603050405020304" pitchFamily="18" charset="0"/>
                          <a:cs typeface="Times New Roman" panose="02020603050405020304" pitchFamily="18" charset="0"/>
                        </a:rPr>
                      </a:br>
                      <a:r>
                        <a:rPr lang="en-US" sz="700" dirty="0">
                          <a:effectLst/>
                          <a:latin typeface="Times New Roman" panose="02020603050405020304" pitchFamily="18" charset="0"/>
                          <a:cs typeface="Times New Roman" panose="02020603050405020304" pitchFamily="18" charset="0"/>
                        </a:rPr>
                        <a:t>2. View tabs layout</a:t>
                      </a:r>
                      <a:endParaRPr lang="en-US" sz="7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dirty="0">
                          <a:effectLst/>
                          <a:latin typeface="Times New Roman" panose="02020603050405020304" pitchFamily="18" charset="0"/>
                          <a:cs typeface="Times New Roman" panose="02020603050405020304" pitchFamily="18" charset="0"/>
                        </a:rPr>
                        <a:t>All 5 tabs displayed: Manage Doctors, User Management, System Analytics, Prediction Insights, System Settings</a:t>
                      </a:r>
                      <a:endParaRPr lang="en-US" sz="7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All 5 tabs displayed: Manage Doctors, User Management, System Analytics, Prediction Insights, System Settings</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Pass</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extLst>
                  <a:ext uri="{0D108BD9-81ED-4DB2-BD59-A6C34878D82A}">
                    <a16:rowId xmlns:a16="http://schemas.microsoft.com/office/drawing/2014/main" val="4199027967"/>
                  </a:ext>
                </a:extLst>
              </a:tr>
              <a:tr h="760503">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4</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User Management - View Users</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1. Click "User Management" tab</a:t>
                      </a:r>
                      <a:br>
                        <a:rPr lang="en-US" sz="700">
                          <a:effectLst/>
                          <a:latin typeface="Times New Roman" panose="02020603050405020304" pitchFamily="18" charset="0"/>
                          <a:cs typeface="Times New Roman" panose="02020603050405020304" pitchFamily="18" charset="0"/>
                        </a:rPr>
                      </a:br>
                      <a:r>
                        <a:rPr lang="en-US" sz="700">
                          <a:effectLst/>
                          <a:latin typeface="Times New Roman" panose="02020603050405020304" pitchFamily="18" charset="0"/>
                          <a:cs typeface="Times New Roman" panose="02020603050405020304" pitchFamily="18" charset="0"/>
                        </a:rPr>
                        <a:t>2. View user list</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All registered users displayed with roles and dates</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dirty="0">
                          <a:effectLst/>
                          <a:latin typeface="Times New Roman" panose="02020603050405020304" pitchFamily="18" charset="0"/>
                          <a:cs typeface="Times New Roman" panose="02020603050405020304" pitchFamily="18" charset="0"/>
                        </a:rPr>
                        <a:t>All registered users displayed with roles and dates</a:t>
                      </a:r>
                      <a:endParaRPr lang="en-US" sz="7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Pass</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extLst>
                  <a:ext uri="{0D108BD9-81ED-4DB2-BD59-A6C34878D82A}">
                    <a16:rowId xmlns:a16="http://schemas.microsoft.com/office/drawing/2014/main" val="2051848826"/>
                  </a:ext>
                </a:extLst>
              </a:tr>
              <a:tr h="760503">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5</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Admin Session Timeout</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1. Stay idle for 30 minutes</a:t>
                      </a:r>
                      <a:br>
                        <a:rPr lang="en-US" sz="700">
                          <a:effectLst/>
                          <a:latin typeface="Times New Roman" panose="02020603050405020304" pitchFamily="18" charset="0"/>
                          <a:cs typeface="Times New Roman" panose="02020603050405020304" pitchFamily="18" charset="0"/>
                        </a:rPr>
                      </a:br>
                      <a:r>
                        <a:rPr lang="en-US" sz="700">
                          <a:effectLst/>
                          <a:latin typeface="Times New Roman" panose="02020603050405020304" pitchFamily="18" charset="0"/>
                          <a:cs typeface="Times New Roman" panose="02020603050405020304" pitchFamily="18" charset="0"/>
                        </a:rPr>
                        <a:t>2. Try to perform action</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Session expires, requires re-login</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Session expires, requires re-login</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Pass</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extLst>
                  <a:ext uri="{0D108BD9-81ED-4DB2-BD59-A6C34878D82A}">
                    <a16:rowId xmlns:a16="http://schemas.microsoft.com/office/drawing/2014/main" val="3937792204"/>
                  </a:ext>
                </a:extLst>
              </a:tr>
              <a:tr h="506879">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6</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Logout / Exit</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Click “Logout” or close session</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User logged out and session ended</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a:effectLst/>
                          <a:latin typeface="Times New Roman" panose="02020603050405020304" pitchFamily="18" charset="0"/>
                          <a:cs typeface="Times New Roman" panose="02020603050405020304" pitchFamily="18" charset="0"/>
                        </a:rPr>
                        <a:t>User logged out successfully</a:t>
                      </a:r>
                      <a:endParaRPr lang="en-US" sz="7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tc>
                  <a:txBody>
                    <a:bodyPr/>
                    <a:lstStyle/>
                    <a:p>
                      <a:pPr marL="0" marR="0" algn="l">
                        <a:lnSpc>
                          <a:spcPct val="150000"/>
                        </a:lnSpc>
                        <a:spcAft>
                          <a:spcPts val="800"/>
                        </a:spcAft>
                        <a:buNone/>
                      </a:pPr>
                      <a:r>
                        <a:rPr lang="en-US" sz="700" dirty="0">
                          <a:effectLst/>
                          <a:latin typeface="Times New Roman" panose="02020603050405020304" pitchFamily="18" charset="0"/>
                          <a:cs typeface="Times New Roman" panose="02020603050405020304" pitchFamily="18" charset="0"/>
                        </a:rPr>
                        <a:t>Pass</a:t>
                      </a:r>
                      <a:endParaRPr lang="en-US" sz="7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0" marB="0" anchor="ctr"/>
                </a:tc>
                <a:extLst>
                  <a:ext uri="{0D108BD9-81ED-4DB2-BD59-A6C34878D82A}">
                    <a16:rowId xmlns:a16="http://schemas.microsoft.com/office/drawing/2014/main" val="1849220566"/>
                  </a:ext>
                </a:extLst>
              </a:tr>
            </a:tbl>
          </a:graphicData>
        </a:graphic>
      </p:graphicFrame>
    </p:spTree>
    <p:extLst>
      <p:ext uri="{BB962C8B-B14F-4D97-AF65-F5344CB8AC3E}">
        <p14:creationId xmlns:p14="http://schemas.microsoft.com/office/powerpoint/2010/main" val="1816190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457200" y="771236"/>
            <a:ext cx="8229600" cy="5211763"/>
          </a:xfrm>
        </p:spPr>
        <p:txBody>
          <a:bodyPr>
            <a:normAutofit fontScale="62500" lnSpcReduction="20000"/>
          </a:bodyPr>
          <a:lstStyle/>
          <a:p>
            <a:pPr marL="0" indent="0" algn="just">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Successful Development:</a:t>
            </a:r>
            <a:r>
              <a:rPr lang="en-US" dirty="0">
                <a:latin typeface="Times New Roman" panose="02020603050405020304" pitchFamily="18" charset="0"/>
                <a:cs typeface="Times New Roman" panose="02020603050405020304" pitchFamily="18" charset="0"/>
              </a:rPr>
              <a:t> The Diabetes Prediction System was successfully developed as an accurate and user-friendly platform for diabetes risk assessment.</a:t>
            </a:r>
          </a:p>
          <a:p>
            <a:r>
              <a:rPr lang="en-US" b="1" dirty="0">
                <a:latin typeface="Times New Roman" panose="02020603050405020304" pitchFamily="18" charset="0"/>
                <a:cs typeface="Times New Roman" panose="02020603050405020304" pitchFamily="18" charset="0"/>
              </a:rPr>
              <a:t>KNN Algorithm:</a:t>
            </a:r>
            <a:r>
              <a:rPr lang="en-US" dirty="0">
                <a:latin typeface="Times New Roman" panose="02020603050405020304" pitchFamily="18" charset="0"/>
                <a:cs typeface="Times New Roman" panose="02020603050405020304" pitchFamily="18" charset="0"/>
              </a:rPr>
              <a:t> The system uses KNN algorithm (k=19, Manhattan distance) to classify patients into high-risk or low-risk categories with 80.5% accuracy.</a:t>
            </a:r>
          </a:p>
          <a:p>
            <a:r>
              <a:rPr lang="en-US" b="1" dirty="0">
                <a:latin typeface="Times New Roman" panose="02020603050405020304" pitchFamily="18" charset="0"/>
                <a:cs typeface="Times New Roman" panose="02020603050405020304" pitchFamily="18" charset="0"/>
              </a:rPr>
              <a:t>Full-Stack Architecture:</a:t>
            </a:r>
            <a:r>
              <a:rPr lang="en-US" dirty="0">
                <a:latin typeface="Times New Roman" panose="02020603050405020304" pitchFamily="18" charset="0"/>
                <a:cs typeface="Times New Roman" panose="02020603050405020304" pitchFamily="18" charset="0"/>
              </a:rPr>
              <a:t> Python,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Scikit-learn, and JSON storage were used to build a scalable and responsive web application.</a:t>
            </a:r>
          </a:p>
          <a:p>
            <a:r>
              <a:rPr lang="en-US" b="1" dirty="0">
                <a:latin typeface="Times New Roman" panose="02020603050405020304" pitchFamily="18" charset="0"/>
                <a:cs typeface="Times New Roman" panose="02020603050405020304" pitchFamily="18" charset="0"/>
              </a:rPr>
              <a:t>Risk-Based Recommendations:</a:t>
            </a:r>
            <a:r>
              <a:rPr lang="en-US" dirty="0">
                <a:latin typeface="Times New Roman" panose="02020603050405020304" pitchFamily="18" charset="0"/>
                <a:cs typeface="Times New Roman" panose="02020603050405020304" pitchFamily="18" charset="0"/>
              </a:rPr>
              <a:t> The system provides personalized doctor recommendations based on risk level (&gt;70% specialist, 50-70% general physician, &lt;50% none).</a:t>
            </a:r>
          </a:p>
          <a:p>
            <a:r>
              <a:rPr lang="en-US" b="1" dirty="0">
                <a:latin typeface="Times New Roman" panose="02020603050405020304" pitchFamily="18" charset="0"/>
                <a:cs typeface="Times New Roman" panose="02020603050405020304" pitchFamily="18" charset="0"/>
              </a:rPr>
              <a:t>Role-Based Access:</a:t>
            </a:r>
            <a:r>
              <a:rPr lang="en-US" dirty="0">
                <a:latin typeface="Times New Roman" panose="02020603050405020304" pitchFamily="18" charset="0"/>
                <a:cs typeface="Times New Roman" panose="02020603050405020304" pitchFamily="18" charset="0"/>
              </a:rPr>
              <a:t> Admin can manage doctors while users can input health data, view predictions, and track history.</a:t>
            </a:r>
          </a:p>
          <a:p>
            <a:r>
              <a:rPr lang="en-US" b="1" dirty="0">
                <a:latin typeface="Times New Roman" panose="02020603050405020304" pitchFamily="18" charset="0"/>
                <a:cs typeface="Times New Roman" panose="02020603050405020304" pitchFamily="18" charset="0"/>
              </a:rPr>
              <a:t>Testing &amp; Performance:</a:t>
            </a:r>
            <a:r>
              <a:rPr lang="en-US" dirty="0">
                <a:latin typeface="Times New Roman" panose="02020603050405020304" pitchFamily="18" charset="0"/>
                <a:cs typeface="Times New Roman" panose="02020603050405020304" pitchFamily="18" charset="0"/>
              </a:rPr>
              <a:t> The system was tested for functionality, accuracy, and reliability, performing successfully across all key scenarios.</a:t>
            </a:r>
          </a:p>
          <a:p>
            <a:r>
              <a:rPr lang="en-US" b="1" dirty="0">
                <a:latin typeface="Times New Roman" panose="02020603050405020304" pitchFamily="18" charset="0"/>
                <a:cs typeface="Times New Roman" panose="02020603050405020304" pitchFamily="18" charset="0"/>
              </a:rPr>
              <a:t>Overall Achievement:</a:t>
            </a:r>
            <a:r>
              <a:rPr lang="en-US" dirty="0">
                <a:latin typeface="Times New Roman" panose="02020603050405020304" pitchFamily="18" charset="0"/>
                <a:cs typeface="Times New Roman" panose="02020603050405020304" pitchFamily="18" charset="0"/>
              </a:rPr>
              <a:t> The system enables early diabetes detection, supports preventive healthcare, and facilitates informed clinical decision-making.</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29AED3E-BC8C-48BF-BE62-FBE47CAA5E56}"/>
              </a:ext>
            </a:extLst>
          </p:cNvPr>
          <p:cNvSpPr>
            <a:spLocks noGrp="1"/>
          </p:cNvSpPr>
          <p:nvPr>
            <p:ph type="sldNum" sz="quarter" idx="12"/>
          </p:nvPr>
        </p:nvSpPr>
        <p:spPr/>
        <p:txBody>
          <a:bodyPr/>
          <a:lstStyle/>
          <a:p>
            <a:fld id="{96BCAAF5-03BA-4168-AC93-5456AEECE647}" type="slidenum">
              <a:rPr lang="en-US" smtClean="0"/>
              <a:t>33</a:t>
            </a:fld>
            <a:endParaRPr lang="en-US" dirty="0"/>
          </a:p>
        </p:txBody>
      </p:sp>
    </p:spTree>
    <p:extLst>
      <p:ext uri="{BB962C8B-B14F-4D97-AF65-F5344CB8AC3E}">
        <p14:creationId xmlns:p14="http://schemas.microsoft.com/office/powerpoint/2010/main" val="25013122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457200" y="990600"/>
            <a:ext cx="8229600" cy="5135563"/>
          </a:xfrm>
        </p:spPr>
        <p:txBody>
          <a:bodyPr>
            <a:noAutofit/>
          </a:bodyPr>
          <a:lstStyle/>
          <a:p>
            <a:r>
              <a:rPr lang="en-US" sz="1800" dirty="0">
                <a:latin typeface="Times New Roman" panose="02020603050405020304" pitchFamily="18" charset="0"/>
                <a:cs typeface="Times New Roman" panose="02020603050405020304" pitchFamily="18" charset="0"/>
              </a:rPr>
              <a:t>[1] F. Pedregosa et al., "Scikit-learn: Machine learning in Python," </a:t>
            </a:r>
            <a:r>
              <a:rPr lang="en-US" sz="1800" i="1" dirty="0">
                <a:latin typeface="Times New Roman" panose="02020603050405020304" pitchFamily="18" charset="0"/>
                <a:cs typeface="Times New Roman" panose="02020603050405020304" pitchFamily="18" charset="0"/>
              </a:rPr>
              <a:t>Journal of Machine Learning Research</a:t>
            </a:r>
            <a:r>
              <a:rPr lang="en-US" sz="1800" dirty="0">
                <a:latin typeface="Times New Roman" panose="02020603050405020304" pitchFamily="18" charset="0"/>
                <a:cs typeface="Times New Roman" panose="02020603050405020304" pitchFamily="18" charset="0"/>
              </a:rPr>
              <a:t>, vol. 12, pp. 2825-2830, 2011.</a:t>
            </a:r>
          </a:p>
          <a:p>
            <a:r>
              <a:rPr lang="en-US" sz="1800" dirty="0">
                <a:latin typeface="Times New Roman" panose="02020603050405020304" pitchFamily="18" charset="0"/>
                <a:cs typeface="Times New Roman" panose="02020603050405020304" pitchFamily="18" charset="0"/>
              </a:rPr>
              <a:t>[2] A. K. M. Masum, F. S. Hossain, and M. A. Hossain, "Comparative analysis of machine learning algorithms for diabetes prediction," </a:t>
            </a:r>
            <a:r>
              <a:rPr lang="en-US" sz="1800" i="1" dirty="0">
                <a:latin typeface="Times New Roman" panose="02020603050405020304" pitchFamily="18" charset="0"/>
                <a:cs typeface="Times New Roman" panose="02020603050405020304" pitchFamily="18" charset="0"/>
              </a:rPr>
              <a:t>Journal of Healthcare Informatics Research</a:t>
            </a:r>
            <a:r>
              <a:rPr lang="en-US" sz="1800" dirty="0">
                <a:latin typeface="Times New Roman" panose="02020603050405020304" pitchFamily="18" charset="0"/>
                <a:cs typeface="Times New Roman" panose="02020603050405020304" pitchFamily="18" charset="0"/>
              </a:rPr>
              <a:t>, vol. 6, no. 2, pp. 123-135, 2022.</a:t>
            </a:r>
          </a:p>
          <a:p>
            <a:r>
              <a:rPr lang="en-US" sz="1800" dirty="0">
                <a:latin typeface="Times New Roman" panose="02020603050405020304" pitchFamily="18" charset="0"/>
                <a:cs typeface="Times New Roman" panose="02020603050405020304" pitchFamily="18" charset="0"/>
              </a:rPr>
              <a:t>[3] J. D. Brownlee, </a:t>
            </a:r>
            <a:r>
              <a:rPr lang="en-US" sz="1800" i="1" dirty="0">
                <a:latin typeface="Times New Roman" panose="02020603050405020304" pitchFamily="18" charset="0"/>
                <a:cs typeface="Times New Roman" panose="02020603050405020304" pitchFamily="18" charset="0"/>
              </a:rPr>
              <a:t>Python Machine Learning</a:t>
            </a:r>
            <a:r>
              <a:rPr lang="en-US" sz="1800" dirty="0">
                <a:latin typeface="Times New Roman" panose="02020603050405020304" pitchFamily="18" charset="0"/>
                <a:cs typeface="Times New Roman" panose="02020603050405020304" pitchFamily="18" charset="0"/>
              </a:rPr>
              <a:t>, 3rd ed., Machine Learning Mastery, 2020.</a:t>
            </a:r>
          </a:p>
          <a:p>
            <a:r>
              <a:rPr lang="en-US" sz="1800" dirty="0">
                <a:latin typeface="Times New Roman" panose="02020603050405020304" pitchFamily="18" charset="0"/>
                <a:cs typeface="Times New Roman" panose="02020603050405020304" pitchFamily="18" charset="0"/>
              </a:rPr>
              <a:t>[4] S. S. Ali and N. O. </a:t>
            </a:r>
            <a:r>
              <a:rPr lang="en-US" sz="1800" dirty="0" err="1">
                <a:latin typeface="Times New Roman" panose="02020603050405020304" pitchFamily="18" charset="0"/>
                <a:cs typeface="Times New Roman" panose="02020603050405020304" pitchFamily="18" charset="0"/>
              </a:rPr>
              <a:t>Aboalela</a:t>
            </a:r>
            <a:r>
              <a:rPr lang="en-US" sz="1800" dirty="0">
                <a:latin typeface="Times New Roman" panose="02020603050405020304" pitchFamily="18" charset="0"/>
                <a:cs typeface="Times New Roman" panose="02020603050405020304" pitchFamily="18" charset="0"/>
              </a:rPr>
              <a:t>, "KNN-based predictive modeling for diabetes risk assessment with hyperparameter optimization," </a:t>
            </a:r>
            <a:r>
              <a:rPr lang="en-US" sz="1800" i="1" dirty="0">
                <a:latin typeface="Times New Roman" panose="02020603050405020304" pitchFamily="18" charset="0"/>
                <a:cs typeface="Times New Roman" panose="02020603050405020304" pitchFamily="18" charset="0"/>
              </a:rPr>
              <a:t>IEEE Access</a:t>
            </a:r>
            <a:r>
              <a:rPr lang="en-US" sz="1800" dirty="0">
                <a:latin typeface="Times New Roman" panose="02020603050405020304" pitchFamily="18" charset="0"/>
                <a:cs typeface="Times New Roman" panose="02020603050405020304" pitchFamily="18" charset="0"/>
              </a:rPr>
              <a:t>, vol. 10, pp. 12345-12356, 2022.</a:t>
            </a:r>
          </a:p>
          <a:p>
            <a:r>
              <a:rPr lang="en-US" sz="1800" dirty="0">
                <a:latin typeface="Times New Roman" panose="02020603050405020304" pitchFamily="18" charset="0"/>
                <a:cs typeface="Times New Roman" panose="02020603050405020304" pitchFamily="18" charset="0"/>
              </a:rPr>
              <a:t>[5] G. I. Webb and E. Keogh, "Machine learning applications in clinical decision support systems," </a:t>
            </a:r>
            <a:r>
              <a:rPr lang="en-US" sz="1800" i="1" dirty="0">
                <a:latin typeface="Times New Roman" panose="02020603050405020304" pitchFamily="18" charset="0"/>
                <a:cs typeface="Times New Roman" panose="02020603050405020304" pitchFamily="18" charset="0"/>
              </a:rPr>
              <a:t>Wiley Interdisciplinary Reviews: Data Mining and Knowledge Discovery</a:t>
            </a:r>
            <a:r>
              <a:rPr lang="en-US" sz="1800" dirty="0">
                <a:latin typeface="Times New Roman" panose="02020603050405020304" pitchFamily="18" charset="0"/>
                <a:cs typeface="Times New Roman" panose="02020603050405020304" pitchFamily="18" charset="0"/>
              </a:rPr>
              <a:t>, vol. 12, no. 1, Article ID e1451, 2022.</a:t>
            </a:r>
          </a:p>
          <a:p>
            <a:r>
              <a:rPr lang="en-US" sz="1800" dirty="0">
                <a:latin typeface="Times New Roman" panose="02020603050405020304" pitchFamily="18" charset="0"/>
                <a:cs typeface="Times New Roman" panose="02020603050405020304" pitchFamily="18" charset="0"/>
              </a:rPr>
              <a:t>[6] M. H. Kutner, C. J. Nachtsheim, and J. </a:t>
            </a:r>
            <a:r>
              <a:rPr lang="en-US" sz="1800" dirty="0" err="1">
                <a:latin typeface="Times New Roman" panose="02020603050405020304" pitchFamily="18" charset="0"/>
                <a:cs typeface="Times New Roman" panose="02020603050405020304" pitchFamily="18" charset="0"/>
              </a:rPr>
              <a:t>Neter</a:t>
            </a:r>
            <a:r>
              <a:rPr lang="en-US" sz="1800"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rPr>
              <a:t>Applied Linear Statistical Models</a:t>
            </a:r>
            <a:r>
              <a:rPr lang="en-US" sz="1800" dirty="0">
                <a:latin typeface="Times New Roman" panose="02020603050405020304" pitchFamily="18" charset="0"/>
                <a:cs typeface="Times New Roman" panose="02020603050405020304" pitchFamily="18" charset="0"/>
              </a:rPr>
              <a:t>, 5th ed., McGraw-Hill, 2005.</a:t>
            </a:r>
          </a:p>
          <a:p>
            <a:r>
              <a:rPr lang="en-US" sz="1800" dirty="0">
                <a:latin typeface="Times New Roman" panose="02020603050405020304" pitchFamily="18" charset="0"/>
                <a:cs typeface="Times New Roman" panose="02020603050405020304" pitchFamily="18" charset="0"/>
              </a:rPr>
              <a:t>[7] "WHO Guidelines on Diabetes Prevention and Control," </a:t>
            </a:r>
            <a:r>
              <a:rPr lang="en-US" sz="1800" i="1" dirty="0">
                <a:latin typeface="Times New Roman" panose="02020603050405020304" pitchFamily="18" charset="0"/>
                <a:cs typeface="Times New Roman" panose="02020603050405020304" pitchFamily="18" charset="0"/>
              </a:rPr>
              <a:t>World Health Organization Technical Report Series</a:t>
            </a:r>
            <a:r>
              <a:rPr lang="en-US" sz="1800" dirty="0">
                <a:latin typeface="Times New Roman" panose="02020603050405020304" pitchFamily="18" charset="0"/>
                <a:cs typeface="Times New Roman" panose="02020603050405020304" pitchFamily="18" charset="0"/>
              </a:rPr>
              <a:t>, no. 948, 2021.</a:t>
            </a:r>
          </a:p>
        </p:txBody>
      </p:sp>
      <p:sp>
        <p:nvSpPr>
          <p:cNvPr id="4" name="Slide Number Placeholder 3">
            <a:extLst>
              <a:ext uri="{FF2B5EF4-FFF2-40B4-BE49-F238E27FC236}">
                <a16:creationId xmlns:a16="http://schemas.microsoft.com/office/drawing/2014/main" id="{45916E0F-D12C-430A-BB8D-3833694B4AB1}"/>
              </a:ext>
            </a:extLst>
          </p:cNvPr>
          <p:cNvSpPr>
            <a:spLocks noGrp="1"/>
          </p:cNvSpPr>
          <p:nvPr>
            <p:ph type="sldNum" sz="quarter" idx="12"/>
          </p:nvPr>
        </p:nvSpPr>
        <p:spPr/>
        <p:txBody>
          <a:bodyPr/>
          <a:lstStyle/>
          <a:p>
            <a:fld id="{96BCAAF5-03BA-4168-AC93-5456AEECE647}" type="slidenum">
              <a:rPr lang="en-US" smtClean="0"/>
              <a:t>34</a:t>
            </a:fld>
            <a:endParaRPr lang="en-US"/>
          </a:p>
        </p:txBody>
      </p:sp>
    </p:spTree>
    <p:extLst>
      <p:ext uri="{BB962C8B-B14F-4D97-AF65-F5344CB8AC3E}">
        <p14:creationId xmlns:p14="http://schemas.microsoft.com/office/powerpoint/2010/main" val="2735142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8A76E-0D9F-4D58-67B0-73136F1E083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9A7E916D-F53D-2EC6-906C-2F069B71D33A}"/>
              </a:ext>
            </a:extLst>
          </p:cNvPr>
          <p:cNvSpPr>
            <a:spLocks noGrp="1"/>
          </p:cNvSpPr>
          <p:nvPr>
            <p:ph idx="1"/>
          </p:nvPr>
        </p:nvSpPr>
        <p:spPr>
          <a:xfrm>
            <a:off x="457200" y="1219200"/>
            <a:ext cx="8229600" cy="4525963"/>
          </a:xfrm>
        </p:spPr>
        <p:txBody>
          <a:bodyPr>
            <a:noAutofit/>
          </a:bodyPr>
          <a:lstStyle/>
          <a:p>
            <a:r>
              <a:rPr lang="en-US" sz="1800" dirty="0">
                <a:latin typeface="Times New Roman" panose="02020603050405020304" pitchFamily="18" charset="0"/>
                <a:cs typeface="Times New Roman" panose="02020603050405020304" pitchFamily="18" charset="0"/>
              </a:rPr>
              <a:t>[8] T. Cover and P. Hart, "Nearest neighbor pattern classification," </a:t>
            </a:r>
            <a:r>
              <a:rPr lang="en-US" sz="1800" i="1" dirty="0">
                <a:latin typeface="Times New Roman" panose="02020603050405020304" pitchFamily="18" charset="0"/>
                <a:cs typeface="Times New Roman" panose="02020603050405020304" pitchFamily="18" charset="0"/>
              </a:rPr>
              <a:t>IEEE Transactions on Information Theory</a:t>
            </a:r>
            <a:r>
              <a:rPr lang="en-US" sz="1800" dirty="0">
                <a:latin typeface="Times New Roman" panose="02020603050405020304" pitchFamily="18" charset="0"/>
                <a:cs typeface="Times New Roman" panose="02020603050405020304" pitchFamily="18" charset="0"/>
              </a:rPr>
              <a:t>, vol. 13, no. 1, pp. 21-27, 1967.</a:t>
            </a:r>
          </a:p>
          <a:p>
            <a:r>
              <a:rPr lang="en-US" sz="1800" dirty="0">
                <a:latin typeface="Times New Roman" panose="02020603050405020304" pitchFamily="18" charset="0"/>
                <a:cs typeface="Times New Roman" panose="02020603050405020304" pitchFamily="18" charset="0"/>
              </a:rPr>
              <a:t>[9] D. W. Aha, D. Kibler, and M. K. Albert, "Instance-based learning algorithms," </a:t>
            </a:r>
            <a:r>
              <a:rPr lang="en-US" sz="1800" i="1" dirty="0">
                <a:latin typeface="Times New Roman" panose="02020603050405020304" pitchFamily="18" charset="0"/>
                <a:cs typeface="Times New Roman" panose="02020603050405020304" pitchFamily="18" charset="0"/>
              </a:rPr>
              <a:t>Machine Learning</a:t>
            </a:r>
            <a:r>
              <a:rPr lang="en-US" sz="1800" dirty="0">
                <a:latin typeface="Times New Roman" panose="02020603050405020304" pitchFamily="18" charset="0"/>
                <a:cs typeface="Times New Roman" panose="02020603050405020304" pitchFamily="18" charset="0"/>
              </a:rPr>
              <a:t>, vol. 6, no. 1, pp. 37-66, 1991.</a:t>
            </a:r>
          </a:p>
          <a:p>
            <a:r>
              <a:rPr lang="en-US" sz="1800" dirty="0">
                <a:latin typeface="Times New Roman" panose="02020603050405020304" pitchFamily="18" charset="0"/>
                <a:cs typeface="Times New Roman" panose="02020603050405020304" pitchFamily="18" charset="0"/>
              </a:rPr>
              <a:t>[10] R. O. Duda, P. E. Hart, and D. G. Stork, </a:t>
            </a:r>
            <a:r>
              <a:rPr lang="en-US" sz="1800" i="1" dirty="0">
                <a:latin typeface="Times New Roman" panose="02020603050405020304" pitchFamily="18" charset="0"/>
                <a:cs typeface="Times New Roman" panose="02020603050405020304" pitchFamily="18" charset="0"/>
              </a:rPr>
              <a:t>Pattern Classification</a:t>
            </a:r>
            <a:r>
              <a:rPr lang="en-US" sz="1800" dirty="0">
                <a:latin typeface="Times New Roman" panose="02020603050405020304" pitchFamily="18" charset="0"/>
                <a:cs typeface="Times New Roman" panose="02020603050405020304" pitchFamily="18" charset="0"/>
              </a:rPr>
              <a:t>, 2nd ed. New York: Wiley-Interscience, 2000.</a:t>
            </a:r>
          </a:p>
          <a:p>
            <a:r>
              <a:rPr lang="en-US" sz="1800" dirty="0">
                <a:latin typeface="Times New Roman" panose="02020603050405020304" pitchFamily="18" charset="0"/>
                <a:cs typeface="Times New Roman" panose="02020603050405020304" pitchFamily="18" charset="0"/>
              </a:rPr>
              <a:t>[11] K. Weinberger and L. Saul, "Distance metric learning for large margin nearest neighbor classification," </a:t>
            </a:r>
            <a:r>
              <a:rPr lang="en-US" sz="1800" i="1" dirty="0">
                <a:latin typeface="Times New Roman" panose="02020603050405020304" pitchFamily="18" charset="0"/>
                <a:cs typeface="Times New Roman" panose="02020603050405020304" pitchFamily="18" charset="0"/>
              </a:rPr>
              <a:t>Journal of Machine Learning Research</a:t>
            </a:r>
            <a:r>
              <a:rPr lang="en-US" sz="1800" dirty="0">
                <a:latin typeface="Times New Roman" panose="02020603050405020304" pitchFamily="18" charset="0"/>
                <a:cs typeface="Times New Roman" panose="02020603050405020304" pitchFamily="18" charset="0"/>
              </a:rPr>
              <a:t>, vol. 10, pp. 207-244, 2009.</a:t>
            </a:r>
          </a:p>
          <a:p>
            <a:r>
              <a:rPr lang="en-US" sz="1800" dirty="0">
                <a:latin typeface="Times New Roman" panose="02020603050405020304" pitchFamily="18" charset="0"/>
                <a:cs typeface="Times New Roman" panose="02020603050405020304" pitchFamily="18" charset="0"/>
              </a:rPr>
              <a:t>[12] E. Fix and J. L. Hodges, "Discriminatory analysis—Nonparametric discrimination: Consistency properties," </a:t>
            </a:r>
            <a:r>
              <a:rPr lang="en-US" sz="1800" i="1" dirty="0">
                <a:latin typeface="Times New Roman" panose="02020603050405020304" pitchFamily="18" charset="0"/>
                <a:cs typeface="Times New Roman" panose="02020603050405020304" pitchFamily="18" charset="0"/>
              </a:rPr>
              <a:t>US Air Force School of Aviation Medicine</a:t>
            </a:r>
            <a:r>
              <a:rPr lang="en-US" sz="1800" dirty="0">
                <a:latin typeface="Times New Roman" panose="02020603050405020304" pitchFamily="18" charset="0"/>
                <a:cs typeface="Times New Roman" panose="02020603050405020304" pitchFamily="18" charset="0"/>
              </a:rPr>
              <a:t>, Technical Report 4, 1951.</a:t>
            </a:r>
          </a:p>
          <a:p>
            <a:r>
              <a:rPr lang="en-US" sz="1800" dirty="0">
                <a:latin typeface="Times New Roman" panose="02020603050405020304" pitchFamily="18" charset="0"/>
                <a:cs typeface="Times New Roman" panose="02020603050405020304" pitchFamily="18" charset="0"/>
              </a:rPr>
              <a:t>[13] T. Hastie, R. </a:t>
            </a:r>
            <a:r>
              <a:rPr lang="en-US" sz="1800" dirty="0" err="1">
                <a:latin typeface="Times New Roman" panose="02020603050405020304" pitchFamily="18" charset="0"/>
                <a:cs typeface="Times New Roman" panose="02020603050405020304" pitchFamily="18" charset="0"/>
              </a:rPr>
              <a:t>Tibshirani</a:t>
            </a:r>
            <a:r>
              <a:rPr lang="en-US" sz="1800" dirty="0">
                <a:latin typeface="Times New Roman" panose="02020603050405020304" pitchFamily="18" charset="0"/>
                <a:cs typeface="Times New Roman" panose="02020603050405020304" pitchFamily="18" charset="0"/>
              </a:rPr>
              <a:t>, and J. Friedman, </a:t>
            </a:r>
            <a:r>
              <a:rPr lang="en-US" sz="1800" i="1" dirty="0">
                <a:latin typeface="Times New Roman" panose="02020603050405020304" pitchFamily="18" charset="0"/>
                <a:cs typeface="Times New Roman" panose="02020603050405020304" pitchFamily="18" charset="0"/>
              </a:rPr>
              <a:t>The Elements of Statistical Learning: Data Mining, Inference, and Prediction</a:t>
            </a:r>
            <a:r>
              <a:rPr lang="en-US" sz="1800" dirty="0">
                <a:latin typeface="Times New Roman" panose="02020603050405020304" pitchFamily="18" charset="0"/>
                <a:cs typeface="Times New Roman" panose="02020603050405020304" pitchFamily="18" charset="0"/>
              </a:rPr>
              <a:t>, 2nd ed. New York: Springer, 2009.</a:t>
            </a:r>
          </a:p>
          <a:p>
            <a:r>
              <a:rPr lang="en-US" sz="1800" dirty="0">
                <a:latin typeface="Times New Roman" panose="02020603050405020304" pitchFamily="18" charset="0"/>
                <a:cs typeface="Times New Roman" panose="02020603050405020304" pitchFamily="18" charset="0"/>
              </a:rPr>
              <a:t>[14] B. V. </a:t>
            </a:r>
            <a:r>
              <a:rPr lang="en-US" sz="1800" dirty="0" err="1">
                <a:latin typeface="Times New Roman" panose="02020603050405020304" pitchFamily="18" charset="0"/>
                <a:cs typeface="Times New Roman" panose="02020603050405020304" pitchFamily="18" charset="0"/>
              </a:rPr>
              <a:t>Dasarathy</a:t>
            </a:r>
            <a:r>
              <a:rPr lang="en-US" sz="1800"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rPr>
              <a:t>Nearest Neighbor (NN) Norms: NN Pattern Classification Techniques</a:t>
            </a:r>
            <a:r>
              <a:rPr lang="en-US" sz="1800" dirty="0">
                <a:latin typeface="Times New Roman" panose="02020603050405020304" pitchFamily="18" charset="0"/>
                <a:cs typeface="Times New Roman" panose="02020603050405020304" pitchFamily="18" charset="0"/>
              </a:rPr>
              <a:t>. Los Alamitos: IEEE Computer Society Press, 1991.</a:t>
            </a:r>
          </a:p>
          <a:p>
            <a:endParaRPr lang="en-US"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30A5FF7-EACE-0B75-D45C-0A26428AC7BA}"/>
              </a:ext>
            </a:extLst>
          </p:cNvPr>
          <p:cNvSpPr>
            <a:spLocks noGrp="1"/>
          </p:cNvSpPr>
          <p:nvPr>
            <p:ph type="sldNum" sz="quarter" idx="12"/>
          </p:nvPr>
        </p:nvSpPr>
        <p:spPr/>
        <p:txBody>
          <a:bodyPr/>
          <a:lstStyle/>
          <a:p>
            <a:fld id="{96BCAAF5-03BA-4168-AC93-5456AEECE647}" type="slidenum">
              <a:rPr lang="en-US" smtClean="0"/>
              <a:t>35</a:t>
            </a:fld>
            <a:endParaRPr lang="en-US"/>
          </a:p>
        </p:txBody>
      </p:sp>
    </p:spTree>
    <p:extLst>
      <p:ext uri="{BB962C8B-B14F-4D97-AF65-F5344CB8AC3E}">
        <p14:creationId xmlns:p14="http://schemas.microsoft.com/office/powerpoint/2010/main" val="5889031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99547-F995-F351-31E7-26F085471CE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a:t>
            </a:r>
            <a:endParaRPr lang="en-US" dirty="0"/>
          </a:p>
        </p:txBody>
      </p:sp>
      <p:sp>
        <p:nvSpPr>
          <p:cNvPr id="3" name="Content Placeholder 2">
            <a:extLst>
              <a:ext uri="{FF2B5EF4-FFF2-40B4-BE49-F238E27FC236}">
                <a16:creationId xmlns:a16="http://schemas.microsoft.com/office/drawing/2014/main" id="{636A571A-5351-D49D-8A10-B7E76BADB177}"/>
              </a:ext>
            </a:extLst>
          </p:cNvPr>
          <p:cNvSpPr>
            <a:spLocks noGrp="1"/>
          </p:cNvSpPr>
          <p:nvPr>
            <p:ph idx="1"/>
          </p:nvPr>
        </p:nvSpPr>
        <p:spPr>
          <a:xfrm>
            <a:off x="473364" y="1417638"/>
            <a:ext cx="8229600" cy="4525963"/>
          </a:xfrm>
        </p:spPr>
        <p:txBody>
          <a:bodyPr>
            <a:normAutofit/>
          </a:bodyPr>
          <a:lstStyle/>
          <a:p>
            <a:r>
              <a:rPr lang="en-US" sz="1800" dirty="0">
                <a:latin typeface="Times New Roman" panose="02020603050405020304" pitchFamily="18" charset="0"/>
                <a:cs typeface="Times New Roman" panose="02020603050405020304" pitchFamily="18" charset="0"/>
              </a:rPr>
              <a:t>[15] S. Zhang, X. Li, M. Zong, X. Zhu, and R. Wang, "Efficient NN classification with different numbers of nearest neighbors," </a:t>
            </a:r>
            <a:r>
              <a:rPr lang="en-US" sz="1800" i="1" dirty="0">
                <a:latin typeface="Times New Roman" panose="02020603050405020304" pitchFamily="18" charset="0"/>
                <a:cs typeface="Times New Roman" panose="02020603050405020304" pitchFamily="18" charset="0"/>
              </a:rPr>
              <a:t>IEEE Transactions on Neural Networks and Learning Systems</a:t>
            </a:r>
            <a:r>
              <a:rPr lang="en-US" sz="1800" dirty="0">
                <a:latin typeface="Times New Roman" panose="02020603050405020304" pitchFamily="18" charset="0"/>
                <a:cs typeface="Times New Roman" panose="02020603050405020304" pitchFamily="18" charset="0"/>
              </a:rPr>
              <a:t>, vol. 29, no. 5, pp. 1774-1785, 2018.</a:t>
            </a:r>
          </a:p>
          <a:p>
            <a:r>
              <a:rPr lang="en-US" sz="1800" dirty="0">
                <a:latin typeface="Times New Roman" panose="02020603050405020304" pitchFamily="18" charset="0"/>
                <a:cs typeface="Times New Roman" panose="02020603050405020304" pitchFamily="18" charset="0"/>
              </a:rPr>
              <a:t>[16] A. K. Jain, R. P. W. Duin, and J. Mao, "Statistical pattern recognition: A review," </a:t>
            </a:r>
            <a:r>
              <a:rPr lang="en-US" sz="1800" i="1" dirty="0">
                <a:latin typeface="Times New Roman" panose="02020603050405020304" pitchFamily="18" charset="0"/>
                <a:cs typeface="Times New Roman" panose="02020603050405020304" pitchFamily="18" charset="0"/>
              </a:rPr>
              <a:t>IEEE Transactions on Pattern Analysis and Machine Intelligence</a:t>
            </a:r>
            <a:r>
              <a:rPr lang="en-US" sz="1800" dirty="0">
                <a:latin typeface="Times New Roman" panose="02020603050405020304" pitchFamily="18" charset="0"/>
                <a:cs typeface="Times New Roman" panose="02020603050405020304" pitchFamily="18" charset="0"/>
              </a:rPr>
              <a:t>, vol. 22, no. 1, pp. 4-37, 2000.</a:t>
            </a:r>
          </a:p>
          <a:p>
            <a:r>
              <a:rPr lang="en-US" sz="1800" dirty="0">
                <a:latin typeface="Times New Roman" panose="02020603050405020304" pitchFamily="18" charset="0"/>
                <a:cs typeface="Times New Roman" panose="02020603050405020304" pitchFamily="18" charset="0"/>
              </a:rPr>
              <a:t>[17] L. E. Peterson, "K-nearest neighbor," </a:t>
            </a:r>
            <a:r>
              <a:rPr lang="en-US" sz="1800" i="1" dirty="0" err="1">
                <a:latin typeface="Times New Roman" panose="02020603050405020304" pitchFamily="18" charset="0"/>
                <a:cs typeface="Times New Roman" panose="02020603050405020304" pitchFamily="18" charset="0"/>
              </a:rPr>
              <a:t>Scholarpedia</a:t>
            </a:r>
            <a:r>
              <a:rPr lang="en-US" sz="1800" dirty="0">
                <a:latin typeface="Times New Roman" panose="02020603050405020304" pitchFamily="18" charset="0"/>
                <a:cs typeface="Times New Roman" panose="02020603050405020304" pitchFamily="18" charset="0"/>
              </a:rPr>
              <a:t>, vol. 4, no. 2, p. 1883, 2009.</a:t>
            </a:r>
          </a:p>
          <a:p>
            <a:r>
              <a:rPr lang="en-US" sz="1800" dirty="0">
                <a:latin typeface="Times New Roman" panose="02020603050405020304" pitchFamily="18" charset="0"/>
                <a:cs typeface="Times New Roman" panose="02020603050405020304" pitchFamily="18" charset="0"/>
              </a:rPr>
              <a:t>[18] G. Guo, H. Wang, D. Bell, Y. Bi, and K. Greer, "KNN model-based approach in classification," </a:t>
            </a:r>
            <a:r>
              <a:rPr lang="en-US" sz="1800" i="1" dirty="0">
                <a:latin typeface="Times New Roman" panose="02020603050405020304" pitchFamily="18" charset="0"/>
                <a:cs typeface="Times New Roman" panose="02020603050405020304" pitchFamily="18" charset="0"/>
              </a:rPr>
              <a:t>Lecture Notes in Computer Science</a:t>
            </a:r>
            <a:r>
              <a:rPr lang="en-US" sz="1800" dirty="0">
                <a:latin typeface="Times New Roman" panose="02020603050405020304" pitchFamily="18" charset="0"/>
                <a:cs typeface="Times New Roman" panose="02020603050405020304" pitchFamily="18" charset="0"/>
              </a:rPr>
              <a:t>, vol. 2888, pp. 986-996, 2003.</a:t>
            </a:r>
          </a:p>
          <a:p>
            <a:r>
              <a:rPr lang="en-US" sz="1800" dirty="0">
                <a:latin typeface="Times New Roman" panose="02020603050405020304" pitchFamily="18" charset="0"/>
                <a:cs typeface="Times New Roman" panose="02020603050405020304" pitchFamily="18" charset="0"/>
              </a:rPr>
              <a:t>[19] “Diabetes Prediction Database” ,  </a:t>
            </a:r>
            <a:r>
              <a:rPr lang="en-US" sz="1800" u="sng" dirty="0">
                <a:latin typeface="Times New Roman" panose="02020603050405020304" pitchFamily="18" charset="0"/>
                <a:cs typeface="Times New Roman" panose="02020603050405020304" pitchFamily="18" charset="0"/>
              </a:rPr>
              <a:t>https://www.kaggle.com/datasets/mahmoudhassanmahmoud/diabites-dataset/data</a:t>
            </a:r>
            <a:endParaRPr lang="en-US" sz="1800" dirty="0">
              <a:latin typeface="Times New Roman" panose="02020603050405020304" pitchFamily="18" charset="0"/>
              <a:cs typeface="Times New Roman" panose="02020603050405020304" pitchFamily="18" charset="0"/>
            </a:endParaRPr>
          </a:p>
          <a:p>
            <a:endParaRPr lang="en-US" sz="1800" dirty="0"/>
          </a:p>
        </p:txBody>
      </p:sp>
      <p:sp>
        <p:nvSpPr>
          <p:cNvPr id="4" name="Slide Number Placeholder 3">
            <a:extLst>
              <a:ext uri="{FF2B5EF4-FFF2-40B4-BE49-F238E27FC236}">
                <a16:creationId xmlns:a16="http://schemas.microsoft.com/office/drawing/2014/main" id="{E517C4EA-3854-2091-56F3-E76DE8CCC6FC}"/>
              </a:ext>
            </a:extLst>
          </p:cNvPr>
          <p:cNvSpPr>
            <a:spLocks noGrp="1"/>
          </p:cNvSpPr>
          <p:nvPr>
            <p:ph type="sldNum" sz="quarter" idx="12"/>
          </p:nvPr>
        </p:nvSpPr>
        <p:spPr/>
        <p:txBody>
          <a:bodyPr/>
          <a:lstStyle/>
          <a:p>
            <a:fld id="{96BCAAF5-03BA-4168-AC93-5456AEECE647}" type="slidenum">
              <a:rPr lang="en-US" smtClean="0"/>
              <a:t>36</a:t>
            </a:fld>
            <a:endParaRPr lang="en-US"/>
          </a:p>
        </p:txBody>
      </p:sp>
    </p:spTree>
    <p:extLst>
      <p:ext uri="{BB962C8B-B14F-4D97-AF65-F5344CB8AC3E}">
        <p14:creationId xmlns:p14="http://schemas.microsoft.com/office/powerpoint/2010/main" val="33426185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DEMO </a:t>
            </a:r>
          </a:p>
        </p:txBody>
      </p:sp>
      <p:sp>
        <p:nvSpPr>
          <p:cNvPr id="2" name="Slide Number Placeholder 1">
            <a:extLst>
              <a:ext uri="{FF2B5EF4-FFF2-40B4-BE49-F238E27FC236}">
                <a16:creationId xmlns:a16="http://schemas.microsoft.com/office/drawing/2014/main" id="{17B196AE-4A4E-47A4-8C8F-6049FACB1123}"/>
              </a:ext>
            </a:extLst>
          </p:cNvPr>
          <p:cNvSpPr>
            <a:spLocks noGrp="1"/>
          </p:cNvSpPr>
          <p:nvPr>
            <p:ph type="sldNum" sz="quarter" idx="12"/>
          </p:nvPr>
        </p:nvSpPr>
        <p:spPr/>
        <p:txBody>
          <a:bodyPr/>
          <a:lstStyle/>
          <a:p>
            <a:fld id="{96BCAAF5-03BA-4168-AC93-5456AEECE647}" type="slidenum">
              <a:rPr lang="en-US" smtClean="0"/>
              <a:t>37</a:t>
            </a:fld>
            <a:endParaRPr lang="en-US"/>
          </a:p>
        </p:txBody>
      </p:sp>
    </p:spTree>
    <p:extLst>
      <p:ext uri="{BB962C8B-B14F-4D97-AF65-F5344CB8AC3E}">
        <p14:creationId xmlns:p14="http://schemas.microsoft.com/office/powerpoint/2010/main" val="951034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1424</TotalTime>
  <Words>3237</Words>
  <Application>Microsoft Office PowerPoint</Application>
  <PresentationFormat>On-screen Show (4:3)</PresentationFormat>
  <Paragraphs>319</Paragraphs>
  <Slides>37</Slides>
  <Notes>1</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      A Project  Presentation On Diabetes Prediction System with K-Nearest Neighbors (KNN) Algorithm  Submitted By Piyush Sthapit (41002140)   A Final Project  Presentation Submitted in partial fulfillment of the requirement of Bachelor in Computer Applications(BCA) 6th semester of Tribhuvan University, Nepal        April, 2026 A.D.                                  </vt:lpstr>
      <vt:lpstr>Table of Content</vt:lpstr>
      <vt:lpstr>Introduction to project</vt:lpstr>
      <vt:lpstr>Objective of the Project</vt:lpstr>
      <vt:lpstr>Scope of Project</vt:lpstr>
      <vt:lpstr>Functional Requirement</vt:lpstr>
      <vt:lpstr>Feasibility Study</vt:lpstr>
      <vt:lpstr>Feasibility Study</vt:lpstr>
      <vt:lpstr>PowerPoint Presentation</vt:lpstr>
      <vt:lpstr>PowerPoint Presentation</vt:lpstr>
      <vt:lpstr>PowerPoint Presentation</vt:lpstr>
      <vt:lpstr>PowerPoint Presentation</vt:lpstr>
      <vt:lpstr>Methodology</vt:lpstr>
      <vt:lpstr>Literature Review:</vt:lpstr>
      <vt:lpstr>PowerPoint Presentation</vt:lpstr>
      <vt:lpstr>System Design</vt:lpstr>
      <vt:lpstr>Class diagram</vt:lpstr>
      <vt:lpstr>Sequence diagram </vt:lpstr>
      <vt:lpstr>State Diagram</vt:lpstr>
      <vt:lpstr>Activity diagram</vt:lpstr>
      <vt:lpstr>Component Diagram</vt:lpstr>
      <vt:lpstr>Deployment Diagram </vt:lpstr>
      <vt:lpstr>Tools used</vt:lpstr>
      <vt:lpstr>Modules</vt:lpstr>
      <vt:lpstr>Login Module</vt:lpstr>
      <vt:lpstr>Scan Module</vt:lpstr>
      <vt:lpstr>Training Module</vt:lpstr>
      <vt:lpstr>Diabetes Prediction Module</vt:lpstr>
      <vt:lpstr>Testing</vt:lpstr>
      <vt:lpstr>Unit Testing</vt:lpstr>
      <vt:lpstr>User Interface</vt:lpstr>
      <vt:lpstr>Admin Interface</vt:lpstr>
      <vt:lpstr>Conclusion</vt:lpstr>
      <vt:lpstr>References</vt:lpstr>
      <vt:lpstr>Reference</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Piyush Sthapi</cp:lastModifiedBy>
  <cp:revision>169</cp:revision>
  <dcterms:created xsi:type="dcterms:W3CDTF">2020-03-01T07:37:33Z</dcterms:created>
  <dcterms:modified xsi:type="dcterms:W3CDTF">2026-04-11T03:33:33Z</dcterms:modified>
</cp:coreProperties>
</file>